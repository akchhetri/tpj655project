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6"/>
  </p:notesMasterIdLst>
  <p:sldIdLst>
    <p:sldId id="256" r:id="rId2"/>
    <p:sldId id="266" r:id="rId3"/>
    <p:sldId id="257" r:id="rId4"/>
    <p:sldId id="258" r:id="rId5"/>
    <p:sldId id="263" r:id="rId6"/>
    <p:sldId id="267" r:id="rId7"/>
    <p:sldId id="268" r:id="rId8"/>
    <p:sldId id="259" r:id="rId9"/>
    <p:sldId id="261" r:id="rId10"/>
    <p:sldId id="262" r:id="rId11"/>
    <p:sldId id="260" r:id="rId12"/>
    <p:sldId id="269" r:id="rId13"/>
    <p:sldId id="270" r:id="rId14"/>
    <p:sldId id="265"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p:restoredLeft sz="12116" autoAdjust="0"/>
    <p:restoredTop sz="87544" autoAdjust="0"/>
  </p:normalViewPr>
  <p:slideViewPr>
    <p:cSldViewPr snapToGrid="0">
      <p:cViewPr>
        <p:scale>
          <a:sx n="66" d="100"/>
          <a:sy n="66" d="100"/>
        </p:scale>
        <p:origin x="1128"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38AC1F-E150-482D-985F-0996126F2DC7}" type="datetimeFigureOut">
              <a:rPr lang="en-CA" smtClean="0"/>
              <a:t>2026-05-17</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1ED2E80-0B8E-43ED-A647-37D3177EFFB6}" type="slidenum">
              <a:rPr lang="en-CA" smtClean="0"/>
              <a:t>‹#›</a:t>
            </a:fld>
            <a:endParaRPr lang="en-CA"/>
          </a:p>
        </p:txBody>
      </p:sp>
    </p:spTree>
    <p:extLst>
      <p:ext uri="{BB962C8B-B14F-4D97-AF65-F5344CB8AC3E}">
        <p14:creationId xmlns:p14="http://schemas.microsoft.com/office/powerpoint/2010/main" val="17393208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Add audio overlay notes here:</a:t>
            </a:r>
          </a:p>
          <a:p>
            <a:endParaRPr lang="en-CA" dirty="0"/>
          </a:p>
        </p:txBody>
      </p:sp>
      <p:sp>
        <p:nvSpPr>
          <p:cNvPr id="4" name="Slide Number Placeholder 3"/>
          <p:cNvSpPr>
            <a:spLocks noGrp="1"/>
          </p:cNvSpPr>
          <p:nvPr>
            <p:ph type="sldNum" sz="quarter" idx="5"/>
          </p:nvPr>
        </p:nvSpPr>
        <p:spPr/>
        <p:txBody>
          <a:bodyPr/>
          <a:lstStyle/>
          <a:p>
            <a:fld id="{71ED2E80-0B8E-43ED-A647-37D3177EFFB6}" type="slidenum">
              <a:rPr lang="en-CA" smtClean="0"/>
              <a:t>1</a:t>
            </a:fld>
            <a:endParaRPr lang="en-CA"/>
          </a:p>
        </p:txBody>
      </p:sp>
    </p:spTree>
    <p:extLst>
      <p:ext uri="{BB962C8B-B14F-4D97-AF65-F5344CB8AC3E}">
        <p14:creationId xmlns:p14="http://schemas.microsoft.com/office/powerpoint/2010/main" val="42089474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audio overlay notes here:</a:t>
            </a:r>
          </a:p>
          <a:p>
            <a:endParaRPr lang="en-CA" dirty="0"/>
          </a:p>
        </p:txBody>
      </p:sp>
      <p:sp>
        <p:nvSpPr>
          <p:cNvPr id="4" name="Slide Number Placeholder 3"/>
          <p:cNvSpPr>
            <a:spLocks noGrp="1"/>
          </p:cNvSpPr>
          <p:nvPr>
            <p:ph type="sldNum" sz="quarter" idx="5"/>
          </p:nvPr>
        </p:nvSpPr>
        <p:spPr/>
        <p:txBody>
          <a:bodyPr/>
          <a:lstStyle/>
          <a:p>
            <a:fld id="{71ED2E80-0B8E-43ED-A647-37D3177EFFB6}" type="slidenum">
              <a:rPr lang="en-CA" smtClean="0"/>
              <a:t>2</a:t>
            </a:fld>
            <a:endParaRPr lang="en-CA"/>
          </a:p>
        </p:txBody>
      </p:sp>
    </p:spTree>
    <p:extLst>
      <p:ext uri="{BB962C8B-B14F-4D97-AF65-F5344CB8AC3E}">
        <p14:creationId xmlns:p14="http://schemas.microsoft.com/office/powerpoint/2010/main" val="9593725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audio overlay notes here:</a:t>
            </a:r>
          </a:p>
          <a:p>
            <a:endParaRPr lang="en-CA" dirty="0"/>
          </a:p>
        </p:txBody>
      </p:sp>
      <p:sp>
        <p:nvSpPr>
          <p:cNvPr id="4" name="Slide Number Placeholder 3"/>
          <p:cNvSpPr>
            <a:spLocks noGrp="1"/>
          </p:cNvSpPr>
          <p:nvPr>
            <p:ph type="sldNum" sz="quarter" idx="5"/>
          </p:nvPr>
        </p:nvSpPr>
        <p:spPr/>
        <p:txBody>
          <a:bodyPr/>
          <a:lstStyle/>
          <a:p>
            <a:fld id="{71ED2E80-0B8E-43ED-A647-37D3177EFFB6}" type="slidenum">
              <a:rPr lang="en-CA" smtClean="0"/>
              <a:t>3</a:t>
            </a:fld>
            <a:endParaRPr lang="en-CA"/>
          </a:p>
        </p:txBody>
      </p:sp>
    </p:spTree>
    <p:extLst>
      <p:ext uri="{BB962C8B-B14F-4D97-AF65-F5344CB8AC3E}">
        <p14:creationId xmlns:p14="http://schemas.microsoft.com/office/powerpoint/2010/main" val="23310009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audio overlay notes here:</a:t>
            </a:r>
          </a:p>
          <a:p>
            <a:endParaRPr lang="en-CA" dirty="0"/>
          </a:p>
        </p:txBody>
      </p:sp>
      <p:sp>
        <p:nvSpPr>
          <p:cNvPr id="4" name="Slide Number Placeholder 3"/>
          <p:cNvSpPr>
            <a:spLocks noGrp="1"/>
          </p:cNvSpPr>
          <p:nvPr>
            <p:ph type="sldNum" sz="quarter" idx="5"/>
          </p:nvPr>
        </p:nvSpPr>
        <p:spPr/>
        <p:txBody>
          <a:bodyPr/>
          <a:lstStyle/>
          <a:p>
            <a:fld id="{71ED2E80-0B8E-43ED-A647-37D3177EFFB6}" type="slidenum">
              <a:rPr lang="en-CA" smtClean="0"/>
              <a:t>4</a:t>
            </a:fld>
            <a:endParaRPr lang="en-CA"/>
          </a:p>
        </p:txBody>
      </p:sp>
    </p:spTree>
    <p:extLst>
      <p:ext uri="{BB962C8B-B14F-4D97-AF65-F5344CB8AC3E}">
        <p14:creationId xmlns:p14="http://schemas.microsoft.com/office/powerpoint/2010/main" val="26156376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audio overlay notes here:</a:t>
            </a:r>
          </a:p>
          <a:p>
            <a:endParaRPr lang="en-CA" dirty="0"/>
          </a:p>
        </p:txBody>
      </p:sp>
      <p:sp>
        <p:nvSpPr>
          <p:cNvPr id="4" name="Slide Number Placeholder 3"/>
          <p:cNvSpPr>
            <a:spLocks noGrp="1"/>
          </p:cNvSpPr>
          <p:nvPr>
            <p:ph type="sldNum" sz="quarter" idx="5"/>
          </p:nvPr>
        </p:nvSpPr>
        <p:spPr/>
        <p:txBody>
          <a:bodyPr/>
          <a:lstStyle/>
          <a:p>
            <a:fld id="{71ED2E80-0B8E-43ED-A647-37D3177EFFB6}" type="slidenum">
              <a:rPr lang="en-CA" smtClean="0"/>
              <a:t>5</a:t>
            </a:fld>
            <a:endParaRPr lang="en-CA"/>
          </a:p>
        </p:txBody>
      </p:sp>
    </p:spTree>
    <p:extLst>
      <p:ext uri="{BB962C8B-B14F-4D97-AF65-F5344CB8AC3E}">
        <p14:creationId xmlns:p14="http://schemas.microsoft.com/office/powerpoint/2010/main" val="3120536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audio overlay notes here:</a:t>
            </a:r>
          </a:p>
          <a:p>
            <a:endParaRPr lang="en-CA" dirty="0"/>
          </a:p>
        </p:txBody>
      </p:sp>
      <p:sp>
        <p:nvSpPr>
          <p:cNvPr id="4" name="Slide Number Placeholder 3"/>
          <p:cNvSpPr>
            <a:spLocks noGrp="1"/>
          </p:cNvSpPr>
          <p:nvPr>
            <p:ph type="sldNum" sz="quarter" idx="5"/>
          </p:nvPr>
        </p:nvSpPr>
        <p:spPr/>
        <p:txBody>
          <a:bodyPr/>
          <a:lstStyle/>
          <a:p>
            <a:fld id="{71ED2E80-0B8E-43ED-A647-37D3177EFFB6}" type="slidenum">
              <a:rPr lang="en-CA" smtClean="0"/>
              <a:t>6</a:t>
            </a:fld>
            <a:endParaRPr lang="en-CA"/>
          </a:p>
        </p:txBody>
      </p:sp>
    </p:spTree>
    <p:extLst>
      <p:ext uri="{BB962C8B-B14F-4D97-AF65-F5344CB8AC3E}">
        <p14:creationId xmlns:p14="http://schemas.microsoft.com/office/powerpoint/2010/main" val="3730605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audio overlay notes here:</a:t>
            </a:r>
          </a:p>
          <a:p>
            <a:endParaRPr lang="en-CA" dirty="0"/>
          </a:p>
        </p:txBody>
      </p:sp>
      <p:sp>
        <p:nvSpPr>
          <p:cNvPr id="4" name="Slide Number Placeholder 3"/>
          <p:cNvSpPr>
            <a:spLocks noGrp="1"/>
          </p:cNvSpPr>
          <p:nvPr>
            <p:ph type="sldNum" sz="quarter" idx="5"/>
          </p:nvPr>
        </p:nvSpPr>
        <p:spPr/>
        <p:txBody>
          <a:bodyPr/>
          <a:lstStyle/>
          <a:p>
            <a:fld id="{71ED2E80-0B8E-43ED-A647-37D3177EFFB6}" type="slidenum">
              <a:rPr lang="en-CA" smtClean="0"/>
              <a:t>7</a:t>
            </a:fld>
            <a:endParaRPr lang="en-CA"/>
          </a:p>
        </p:txBody>
      </p:sp>
    </p:spTree>
    <p:extLst>
      <p:ext uri="{BB962C8B-B14F-4D97-AF65-F5344CB8AC3E}">
        <p14:creationId xmlns:p14="http://schemas.microsoft.com/office/powerpoint/2010/main" val="32789405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audio overlay notes here:</a:t>
            </a:r>
          </a:p>
          <a:p>
            <a:endParaRPr lang="en-CA" dirty="0"/>
          </a:p>
        </p:txBody>
      </p:sp>
      <p:sp>
        <p:nvSpPr>
          <p:cNvPr id="4" name="Slide Number Placeholder 3"/>
          <p:cNvSpPr>
            <a:spLocks noGrp="1"/>
          </p:cNvSpPr>
          <p:nvPr>
            <p:ph type="sldNum" sz="quarter" idx="5"/>
          </p:nvPr>
        </p:nvSpPr>
        <p:spPr/>
        <p:txBody>
          <a:bodyPr/>
          <a:lstStyle/>
          <a:p>
            <a:fld id="{71ED2E80-0B8E-43ED-A647-37D3177EFFB6}" type="slidenum">
              <a:rPr lang="en-CA" smtClean="0"/>
              <a:t>8</a:t>
            </a:fld>
            <a:endParaRPr lang="en-CA"/>
          </a:p>
        </p:txBody>
      </p:sp>
    </p:spTree>
    <p:extLst>
      <p:ext uri="{BB962C8B-B14F-4D97-AF65-F5344CB8AC3E}">
        <p14:creationId xmlns:p14="http://schemas.microsoft.com/office/powerpoint/2010/main" val="2081513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audio overlay notes here:</a:t>
            </a:r>
          </a:p>
          <a:p>
            <a:endParaRPr lang="en-CA" dirty="0"/>
          </a:p>
        </p:txBody>
      </p:sp>
      <p:sp>
        <p:nvSpPr>
          <p:cNvPr id="4" name="Slide Number Placeholder 3"/>
          <p:cNvSpPr>
            <a:spLocks noGrp="1"/>
          </p:cNvSpPr>
          <p:nvPr>
            <p:ph type="sldNum" sz="quarter" idx="5"/>
          </p:nvPr>
        </p:nvSpPr>
        <p:spPr/>
        <p:txBody>
          <a:bodyPr/>
          <a:lstStyle/>
          <a:p>
            <a:fld id="{71ED2E80-0B8E-43ED-A647-37D3177EFFB6}" type="slidenum">
              <a:rPr lang="en-CA" smtClean="0"/>
              <a:t>9</a:t>
            </a:fld>
            <a:endParaRPr lang="en-CA"/>
          </a:p>
        </p:txBody>
      </p:sp>
    </p:spTree>
    <p:extLst>
      <p:ext uri="{BB962C8B-B14F-4D97-AF65-F5344CB8AC3E}">
        <p14:creationId xmlns:p14="http://schemas.microsoft.com/office/powerpoint/2010/main" val="10810650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audio overlay notes here:</a:t>
            </a:r>
          </a:p>
          <a:p>
            <a:endParaRPr lang="en-CA" dirty="0"/>
          </a:p>
        </p:txBody>
      </p:sp>
      <p:sp>
        <p:nvSpPr>
          <p:cNvPr id="4" name="Slide Number Placeholder 3"/>
          <p:cNvSpPr>
            <a:spLocks noGrp="1"/>
          </p:cNvSpPr>
          <p:nvPr>
            <p:ph type="sldNum" sz="quarter" idx="5"/>
          </p:nvPr>
        </p:nvSpPr>
        <p:spPr/>
        <p:txBody>
          <a:bodyPr/>
          <a:lstStyle/>
          <a:p>
            <a:fld id="{71ED2E80-0B8E-43ED-A647-37D3177EFFB6}" type="slidenum">
              <a:rPr lang="en-CA" smtClean="0"/>
              <a:t>10</a:t>
            </a:fld>
            <a:endParaRPr lang="en-CA"/>
          </a:p>
        </p:txBody>
      </p:sp>
    </p:spTree>
    <p:extLst>
      <p:ext uri="{BB962C8B-B14F-4D97-AF65-F5344CB8AC3E}">
        <p14:creationId xmlns:p14="http://schemas.microsoft.com/office/powerpoint/2010/main" val="4025372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audio overlay notes here:</a:t>
            </a:r>
          </a:p>
          <a:p>
            <a:endParaRPr lang="en-CA" dirty="0"/>
          </a:p>
        </p:txBody>
      </p:sp>
      <p:sp>
        <p:nvSpPr>
          <p:cNvPr id="4" name="Slide Number Placeholder 3"/>
          <p:cNvSpPr>
            <a:spLocks noGrp="1"/>
          </p:cNvSpPr>
          <p:nvPr>
            <p:ph type="sldNum" sz="quarter" idx="5"/>
          </p:nvPr>
        </p:nvSpPr>
        <p:spPr/>
        <p:txBody>
          <a:bodyPr/>
          <a:lstStyle/>
          <a:p>
            <a:fld id="{71ED2E80-0B8E-43ED-A647-37D3177EFFB6}" type="slidenum">
              <a:rPr lang="en-CA" smtClean="0"/>
              <a:t>11</a:t>
            </a:fld>
            <a:endParaRPr lang="en-CA"/>
          </a:p>
        </p:txBody>
      </p:sp>
    </p:spTree>
    <p:extLst>
      <p:ext uri="{BB962C8B-B14F-4D97-AF65-F5344CB8AC3E}">
        <p14:creationId xmlns:p14="http://schemas.microsoft.com/office/powerpoint/2010/main" val="7528864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audio overlay notes here:</a:t>
            </a:r>
          </a:p>
          <a:p>
            <a:endParaRPr lang="en-CA" dirty="0"/>
          </a:p>
        </p:txBody>
      </p:sp>
      <p:sp>
        <p:nvSpPr>
          <p:cNvPr id="4" name="Slide Number Placeholder 3"/>
          <p:cNvSpPr>
            <a:spLocks noGrp="1"/>
          </p:cNvSpPr>
          <p:nvPr>
            <p:ph type="sldNum" sz="quarter" idx="5"/>
          </p:nvPr>
        </p:nvSpPr>
        <p:spPr/>
        <p:txBody>
          <a:bodyPr/>
          <a:lstStyle/>
          <a:p>
            <a:fld id="{71ED2E80-0B8E-43ED-A647-37D3177EFFB6}" type="slidenum">
              <a:rPr lang="en-CA" smtClean="0"/>
              <a:t>12</a:t>
            </a:fld>
            <a:endParaRPr lang="en-CA"/>
          </a:p>
        </p:txBody>
      </p:sp>
    </p:spTree>
    <p:extLst>
      <p:ext uri="{BB962C8B-B14F-4D97-AF65-F5344CB8AC3E}">
        <p14:creationId xmlns:p14="http://schemas.microsoft.com/office/powerpoint/2010/main" val="36441799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audio overlay notes here:</a:t>
            </a:r>
          </a:p>
          <a:p>
            <a:endParaRPr lang="en-CA" dirty="0"/>
          </a:p>
        </p:txBody>
      </p:sp>
      <p:sp>
        <p:nvSpPr>
          <p:cNvPr id="4" name="Slide Number Placeholder 3"/>
          <p:cNvSpPr>
            <a:spLocks noGrp="1"/>
          </p:cNvSpPr>
          <p:nvPr>
            <p:ph type="sldNum" sz="quarter" idx="5"/>
          </p:nvPr>
        </p:nvSpPr>
        <p:spPr/>
        <p:txBody>
          <a:bodyPr/>
          <a:lstStyle/>
          <a:p>
            <a:fld id="{71ED2E80-0B8E-43ED-A647-37D3177EFFB6}" type="slidenum">
              <a:rPr lang="en-CA" smtClean="0"/>
              <a:t>13</a:t>
            </a:fld>
            <a:endParaRPr lang="en-CA"/>
          </a:p>
        </p:txBody>
      </p:sp>
    </p:spTree>
    <p:extLst>
      <p:ext uri="{BB962C8B-B14F-4D97-AF65-F5344CB8AC3E}">
        <p14:creationId xmlns:p14="http://schemas.microsoft.com/office/powerpoint/2010/main" val="4172704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audio overlay notes here:</a:t>
            </a:r>
          </a:p>
          <a:p>
            <a:endParaRPr lang="en-CA" dirty="0"/>
          </a:p>
        </p:txBody>
      </p:sp>
      <p:sp>
        <p:nvSpPr>
          <p:cNvPr id="4" name="Slide Number Placeholder 3"/>
          <p:cNvSpPr>
            <a:spLocks noGrp="1"/>
          </p:cNvSpPr>
          <p:nvPr>
            <p:ph type="sldNum" sz="quarter" idx="5"/>
          </p:nvPr>
        </p:nvSpPr>
        <p:spPr/>
        <p:txBody>
          <a:bodyPr/>
          <a:lstStyle/>
          <a:p>
            <a:fld id="{71ED2E80-0B8E-43ED-A647-37D3177EFFB6}" type="slidenum">
              <a:rPr lang="en-CA" smtClean="0"/>
              <a:t>14</a:t>
            </a:fld>
            <a:endParaRPr lang="en-CA"/>
          </a:p>
        </p:txBody>
      </p:sp>
    </p:spTree>
    <p:extLst>
      <p:ext uri="{BB962C8B-B14F-4D97-AF65-F5344CB8AC3E}">
        <p14:creationId xmlns:p14="http://schemas.microsoft.com/office/powerpoint/2010/main" val="223144624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B61BEF0D-F0BB-DE4B-95CE-6DB70DBA9567}" type="datetimeFigureOut">
              <a:rPr lang="en-US" dirty="0"/>
              <a:pPr/>
              <a:t>5/17/2026</a:t>
            </a:fld>
            <a:endParaRPr lang="en-US" dirty="0"/>
          </a:p>
        </p:txBody>
      </p:sp>
      <p:sp>
        <p:nvSpPr>
          <p:cNvPr id="5" name="Footer Placeholder 4"/>
          <p:cNvSpPr>
            <a:spLocks noGrp="1"/>
          </p:cNvSpPr>
          <p:nvPr>
            <p:ph type="ftr" sz="quarter" idx="11"/>
          </p:nvPr>
        </p:nvSpPr>
        <p:spPr>
          <a:xfrm>
            <a:off x="3962399" y="5870575"/>
            <a:ext cx="4893958" cy="377825"/>
          </a:xfrm>
        </p:spPr>
        <p:txBody>
          <a:bodyPr/>
          <a:lstStyle/>
          <a:p>
            <a:endParaRPr lang="en-US" dirty="0"/>
          </a:p>
        </p:txBody>
      </p:sp>
      <p:sp>
        <p:nvSpPr>
          <p:cNvPr id="6" name="Slide Number Placeholder 5"/>
          <p:cNvSpPr>
            <a:spLocks noGrp="1"/>
          </p:cNvSpPr>
          <p:nvPr>
            <p:ph type="sldNum" sz="quarter" idx="12"/>
          </p:nvPr>
        </p:nvSpPr>
        <p:spPr>
          <a:xfrm>
            <a:off x="10608958" y="5870575"/>
            <a:ext cx="551167" cy="377825"/>
          </a:xfrm>
        </p:spPr>
        <p:txBody>
          <a:bodyPr/>
          <a:lstStyle/>
          <a:p>
            <a:fld id="{D57F1E4F-1CFF-5643-939E-217C01CDF565}"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5/17/2026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5/17/2026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5/17/2026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B61BEF0D-F0BB-DE4B-95CE-6DB70DBA9567}" type="datetimeFigureOut">
              <a:rPr lang="en-US" dirty="0"/>
              <a:pPr/>
              <a:t>5/17/2026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5/17/2026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5/17/2026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5/17/2026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8" name="Title 1"/>
          <p:cNvSpPr>
            <a:spLocks noGrp="1"/>
          </p:cNvSpPr>
          <p:nvPr>
            <p:ph type="title"/>
          </p:nvPr>
        </p:nvSpPr>
        <p:spPr>
          <a:xfrm>
            <a:off x="685801" y="609600"/>
            <a:ext cx="10131425" cy="1456267"/>
          </a:xfrm>
        </p:spPr>
        <p:txBody>
          <a:bodyPr/>
          <a:lstStyle/>
          <a:p>
            <a:r>
              <a:rPr lang="en-US"/>
              <a:t>Click to edit Master title style</a:t>
            </a:r>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5/17/2026</a:t>
            </a:fld>
            <a:endParaRPr lang="en-US" dirty="0"/>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8" r:id="rId14"/>
    <p:sldLayoutId id="2147483667" r:id="rId15"/>
    <p:sldLayoutId id="2147483658" r:id="rId16"/>
    <p:sldLayoutId id="2147483659"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microsoft.com/office/2007/relationships/hdphoto" Target="../media/hdphoto1.wdp"/></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chatgpt.com/share/6a09471b-667c-83ea-b064-04b8be1a7664"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C1DB2-AE8D-68DA-98C5-C461480FB73B}"/>
              </a:ext>
            </a:extLst>
          </p:cNvPr>
          <p:cNvSpPr>
            <a:spLocks noGrp="1"/>
          </p:cNvSpPr>
          <p:nvPr>
            <p:ph type="ctrTitle"/>
          </p:nvPr>
        </p:nvSpPr>
        <p:spPr>
          <a:xfrm>
            <a:off x="941053" y="1261536"/>
            <a:ext cx="10309893" cy="2421464"/>
          </a:xfrm>
        </p:spPr>
        <p:txBody>
          <a:bodyPr>
            <a:normAutofit/>
          </a:bodyPr>
          <a:lstStyle/>
          <a:p>
            <a:r>
              <a:rPr lang="en-US" dirty="0"/>
              <a:t>Proposal:</a:t>
            </a:r>
            <a:br>
              <a:rPr lang="en-US" dirty="0"/>
            </a:br>
            <a:r>
              <a:rPr lang="en-IN" b="1" dirty="0"/>
              <a:t>Smart Aquarium Water-Chemistry Management Engine</a:t>
            </a:r>
            <a:endParaRPr lang="en-CA" b="1" dirty="0"/>
          </a:p>
        </p:txBody>
      </p:sp>
      <p:sp>
        <p:nvSpPr>
          <p:cNvPr id="3" name="Subtitle 2">
            <a:extLst>
              <a:ext uri="{FF2B5EF4-FFF2-40B4-BE49-F238E27FC236}">
                <a16:creationId xmlns:a16="http://schemas.microsoft.com/office/drawing/2014/main" id="{35CC5E7A-97FD-A3C5-DB41-104958D0D602}"/>
              </a:ext>
            </a:extLst>
          </p:cNvPr>
          <p:cNvSpPr>
            <a:spLocks noGrp="1"/>
          </p:cNvSpPr>
          <p:nvPr>
            <p:ph type="subTitle" idx="1"/>
          </p:nvPr>
        </p:nvSpPr>
        <p:spPr>
          <a:xfrm>
            <a:off x="2663687" y="4065104"/>
            <a:ext cx="8496438" cy="1865913"/>
          </a:xfrm>
        </p:spPr>
        <p:txBody>
          <a:bodyPr>
            <a:normAutofit/>
          </a:bodyPr>
          <a:lstStyle/>
          <a:p>
            <a:r>
              <a:rPr lang="en-US" sz="2000" dirty="0"/>
              <a:t>TPJ65</a:t>
            </a:r>
          </a:p>
          <a:p>
            <a:r>
              <a:rPr lang="en-US" sz="2000" dirty="0"/>
              <a:t>Team # B01</a:t>
            </a:r>
          </a:p>
          <a:p>
            <a:r>
              <a:rPr lang="en-US" sz="2000" dirty="0"/>
              <a:t>PM1: Arun </a:t>
            </a:r>
            <a:r>
              <a:rPr lang="en-US" sz="2000" dirty="0" err="1"/>
              <a:t>kumar</a:t>
            </a:r>
            <a:r>
              <a:rPr lang="en-US" sz="2000" dirty="0"/>
              <a:t> </a:t>
            </a:r>
            <a:r>
              <a:rPr lang="en-US" sz="2000" dirty="0" err="1"/>
              <a:t>chhetri</a:t>
            </a:r>
            <a:r>
              <a:rPr lang="en-US" sz="2000" dirty="0"/>
              <a:t> </a:t>
            </a:r>
          </a:p>
          <a:p>
            <a:r>
              <a:rPr lang="en-US" sz="2000" dirty="0"/>
              <a:t>PM2: </a:t>
            </a:r>
            <a:r>
              <a:rPr lang="en-US" sz="2000" dirty="0" err="1"/>
              <a:t>Manjot</a:t>
            </a:r>
            <a:r>
              <a:rPr lang="en-US" sz="2000" dirty="0"/>
              <a:t> </a:t>
            </a:r>
            <a:r>
              <a:rPr lang="en-US" sz="2000" dirty="0" err="1"/>
              <a:t>singh</a:t>
            </a:r>
            <a:r>
              <a:rPr lang="en-US" sz="2000" dirty="0"/>
              <a:t> </a:t>
            </a:r>
            <a:endParaRPr lang="en-CA" sz="2000" dirty="0"/>
          </a:p>
        </p:txBody>
      </p:sp>
    </p:spTree>
    <p:extLst>
      <p:ext uri="{BB962C8B-B14F-4D97-AF65-F5344CB8AC3E}">
        <p14:creationId xmlns:p14="http://schemas.microsoft.com/office/powerpoint/2010/main" val="31501582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F6AE4-309F-44A3-5BDC-2050E0710058}"/>
              </a:ext>
            </a:extLst>
          </p:cNvPr>
          <p:cNvSpPr>
            <a:spLocks noGrp="1"/>
          </p:cNvSpPr>
          <p:nvPr>
            <p:ph type="title"/>
          </p:nvPr>
        </p:nvSpPr>
        <p:spPr>
          <a:xfrm>
            <a:off x="685801" y="609600"/>
            <a:ext cx="10131425" cy="676275"/>
          </a:xfrm>
        </p:spPr>
        <p:txBody>
          <a:bodyPr anchor="t"/>
          <a:lstStyle/>
          <a:p>
            <a:r>
              <a:rPr lang="en-US" dirty="0"/>
              <a:t>Summary: Project Description in &lt;40 Words</a:t>
            </a:r>
            <a:endParaRPr lang="en-CA" dirty="0"/>
          </a:p>
        </p:txBody>
      </p:sp>
      <p:sp>
        <p:nvSpPr>
          <p:cNvPr id="3" name="Content Placeholder 2">
            <a:extLst>
              <a:ext uri="{FF2B5EF4-FFF2-40B4-BE49-F238E27FC236}">
                <a16:creationId xmlns:a16="http://schemas.microsoft.com/office/drawing/2014/main" id="{6D3A4BD6-493B-C197-782D-10FCB3F0F4DD}"/>
              </a:ext>
            </a:extLst>
          </p:cNvPr>
          <p:cNvSpPr>
            <a:spLocks noGrp="1"/>
          </p:cNvSpPr>
          <p:nvPr>
            <p:ph idx="1"/>
          </p:nvPr>
        </p:nvSpPr>
        <p:spPr>
          <a:xfrm>
            <a:off x="685801" y="2315817"/>
            <a:ext cx="10131425" cy="2623932"/>
          </a:xfrm>
        </p:spPr>
        <p:txBody>
          <a:bodyPr anchor="t">
            <a:normAutofit/>
          </a:bodyPr>
          <a:lstStyle/>
          <a:p>
            <a:pPr marL="0" indent="0" algn="ctr">
              <a:buNone/>
            </a:pPr>
            <a:r>
              <a:rPr lang="en-IN" sz="2800" dirty="0">
                <a:latin typeface="Arial" panose="020B0604020202020204" pitchFamily="34" charset="0"/>
                <a:cs typeface="Arial" panose="020B0604020202020204" pitchFamily="34" charset="0"/>
              </a:rPr>
              <a:t>An intelligent IoT-based aquarium automation system that continuously monitors and stabilizes pH, temperature, dissolved oxygen, and turbidity using real-time sensing, automated control mechanisms, and cloud-connected environmental monitoring.</a:t>
            </a:r>
          </a:p>
        </p:txBody>
      </p:sp>
    </p:spTree>
    <p:extLst>
      <p:ext uri="{BB962C8B-B14F-4D97-AF65-F5344CB8AC3E}">
        <p14:creationId xmlns:p14="http://schemas.microsoft.com/office/powerpoint/2010/main" val="13453940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F6AE4-309F-44A3-5BDC-2050E0710058}"/>
              </a:ext>
            </a:extLst>
          </p:cNvPr>
          <p:cNvSpPr>
            <a:spLocks noGrp="1"/>
          </p:cNvSpPr>
          <p:nvPr>
            <p:ph type="title"/>
          </p:nvPr>
        </p:nvSpPr>
        <p:spPr>
          <a:xfrm>
            <a:off x="685801" y="609600"/>
            <a:ext cx="10131425" cy="676275"/>
          </a:xfrm>
        </p:spPr>
        <p:txBody>
          <a:bodyPr anchor="t"/>
          <a:lstStyle/>
          <a:p>
            <a:r>
              <a:rPr lang="en-US" dirty="0"/>
              <a:t>Why </a:t>
            </a:r>
            <a:r>
              <a:rPr lang="en-US" u="sng" dirty="0"/>
              <a:t>This</a:t>
            </a:r>
            <a:r>
              <a:rPr lang="en-US" dirty="0"/>
              <a:t> Project Idea?</a:t>
            </a:r>
            <a:endParaRPr lang="en-CA" dirty="0"/>
          </a:p>
        </p:txBody>
      </p:sp>
      <p:sp>
        <p:nvSpPr>
          <p:cNvPr id="3" name="Content Placeholder 2">
            <a:extLst>
              <a:ext uri="{FF2B5EF4-FFF2-40B4-BE49-F238E27FC236}">
                <a16:creationId xmlns:a16="http://schemas.microsoft.com/office/drawing/2014/main" id="{6D3A4BD6-493B-C197-782D-10FCB3F0F4DD}"/>
              </a:ext>
            </a:extLst>
          </p:cNvPr>
          <p:cNvSpPr>
            <a:spLocks noGrp="1"/>
          </p:cNvSpPr>
          <p:nvPr>
            <p:ph idx="1"/>
          </p:nvPr>
        </p:nvSpPr>
        <p:spPr>
          <a:xfrm>
            <a:off x="685801" y="1447800"/>
            <a:ext cx="10736178" cy="4664241"/>
          </a:xfrm>
        </p:spPr>
        <p:txBody>
          <a:bodyPr anchor="t">
            <a:normAutofit/>
          </a:bodyPr>
          <a:lstStyle/>
          <a:p>
            <a:pPr marL="0" indent="0" algn="just">
              <a:buNone/>
            </a:pPr>
            <a:r>
              <a:rPr lang="en-US" sz="2400" dirty="0"/>
              <a:t>This project idea was selected because it combines embedded systems, industrial automation, environmental monitoring, intelligent control systems, and IoT communication into one realistic and scalable engineering solution. Unlike basic monitoring systems, the project uses closed-loop environmental control to continuously analyze water conditions and automatically maintain stability safely and intelligently. </a:t>
            </a:r>
          </a:p>
          <a:p>
            <a:pPr marL="0" indent="0" algn="just">
              <a:buNone/>
            </a:pPr>
            <a:r>
              <a:rPr lang="en-US" sz="2400" dirty="0"/>
              <a:t>The project also has strong real-world applications, demonstrates advanced engineering concepts, supports future modular expansion, and integrates both hardware and software engineering. Additionally, it addresses practical engineering challenges such as sensor calibration, multi-variable control, feedback systems, fault handling, environmental stability, and real-time automation, making it both technically valuable and visually impressive for showcase demonstrations.</a:t>
            </a:r>
          </a:p>
        </p:txBody>
      </p:sp>
    </p:spTree>
    <p:extLst>
      <p:ext uri="{BB962C8B-B14F-4D97-AF65-F5344CB8AC3E}">
        <p14:creationId xmlns:p14="http://schemas.microsoft.com/office/powerpoint/2010/main" val="8603885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F6AE4-309F-44A3-5BDC-2050E0710058}"/>
              </a:ext>
            </a:extLst>
          </p:cNvPr>
          <p:cNvSpPr>
            <a:spLocks noGrp="1"/>
          </p:cNvSpPr>
          <p:nvPr>
            <p:ph type="title"/>
          </p:nvPr>
        </p:nvSpPr>
        <p:spPr>
          <a:xfrm>
            <a:off x="685801" y="609600"/>
            <a:ext cx="10131425" cy="676275"/>
          </a:xfrm>
        </p:spPr>
        <p:txBody>
          <a:bodyPr anchor="t"/>
          <a:lstStyle/>
          <a:p>
            <a:r>
              <a:rPr lang="en-US" dirty="0"/>
              <a:t>Proposed: System Block Diagram</a:t>
            </a:r>
            <a:endParaRPr lang="en-CA" dirty="0"/>
          </a:p>
        </p:txBody>
      </p:sp>
      <p:pic>
        <p:nvPicPr>
          <p:cNvPr id="4" name="Picture 3">
            <a:extLst>
              <a:ext uri="{FF2B5EF4-FFF2-40B4-BE49-F238E27FC236}">
                <a16:creationId xmlns:a16="http://schemas.microsoft.com/office/drawing/2014/main" id="{81A7D540-F8F0-4A15-B6A5-33D512420E6A}"/>
              </a:ext>
            </a:extLst>
          </p:cNvPr>
          <p:cNvPicPr/>
          <p:nvPr/>
        </p:nvPicPr>
        <p:blipFill>
          <a:blip r:embed="rId3" cstate="print">
            <a:extLst>
              <a:ext uri="{BEBA8EAE-BF5A-486C-A8C5-ECC9F3942E4B}">
                <a14:imgProps xmlns:a14="http://schemas.microsoft.com/office/drawing/2010/main">
                  <a14:imgLayer r:embed="rId4">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1666875" y="1373187"/>
            <a:ext cx="8858250" cy="4875213"/>
          </a:xfrm>
          <a:prstGeom prst="rect">
            <a:avLst/>
          </a:prstGeom>
          <a:noFill/>
          <a:ln>
            <a:noFill/>
          </a:ln>
        </p:spPr>
      </p:pic>
    </p:spTree>
    <p:extLst>
      <p:ext uri="{BB962C8B-B14F-4D97-AF65-F5344CB8AC3E}">
        <p14:creationId xmlns:p14="http://schemas.microsoft.com/office/powerpoint/2010/main" val="18967831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F6AE4-309F-44A3-5BDC-2050E0710058}"/>
              </a:ext>
            </a:extLst>
          </p:cNvPr>
          <p:cNvSpPr>
            <a:spLocks noGrp="1"/>
          </p:cNvSpPr>
          <p:nvPr>
            <p:ph type="title"/>
          </p:nvPr>
        </p:nvSpPr>
        <p:spPr>
          <a:xfrm>
            <a:off x="685801" y="609600"/>
            <a:ext cx="10131425" cy="676275"/>
          </a:xfrm>
        </p:spPr>
        <p:txBody>
          <a:bodyPr anchor="t"/>
          <a:lstStyle/>
          <a:p>
            <a:r>
              <a:rPr lang="en-US" dirty="0"/>
              <a:t>Proposed: Electronic Input Devices</a:t>
            </a:r>
            <a:endParaRPr lang="en-CA" dirty="0"/>
          </a:p>
        </p:txBody>
      </p:sp>
      <p:graphicFrame>
        <p:nvGraphicFramePr>
          <p:cNvPr id="5" name="Table 4">
            <a:extLst>
              <a:ext uri="{FF2B5EF4-FFF2-40B4-BE49-F238E27FC236}">
                <a16:creationId xmlns:a16="http://schemas.microsoft.com/office/drawing/2014/main" id="{5BD980D9-5A48-46E8-B429-AB91D4FD03F6}"/>
              </a:ext>
            </a:extLst>
          </p:cNvPr>
          <p:cNvGraphicFramePr>
            <a:graphicFrameLocks noGrp="1"/>
          </p:cNvGraphicFramePr>
          <p:nvPr>
            <p:extLst>
              <p:ext uri="{D42A27DB-BD31-4B8C-83A1-F6EECF244321}">
                <p14:modId xmlns:p14="http://schemas.microsoft.com/office/powerpoint/2010/main" val="2123606672"/>
              </p:ext>
            </p:extLst>
          </p:nvPr>
        </p:nvGraphicFramePr>
        <p:xfrm>
          <a:off x="685799" y="1470991"/>
          <a:ext cx="10962862" cy="4777409"/>
        </p:xfrm>
        <a:graphic>
          <a:graphicData uri="http://schemas.openxmlformats.org/drawingml/2006/table">
            <a:tbl>
              <a:tblPr firstRow="1" firstCol="1" bandRow="1">
                <a:tableStyleId>{5940675A-B579-460E-94D1-54222C63F5DA}</a:tableStyleId>
              </a:tblPr>
              <a:tblGrid>
                <a:gridCol w="4750905">
                  <a:extLst>
                    <a:ext uri="{9D8B030D-6E8A-4147-A177-3AD203B41FA5}">
                      <a16:colId xmlns:a16="http://schemas.microsoft.com/office/drawing/2014/main" val="1218845830"/>
                    </a:ext>
                  </a:extLst>
                </a:gridCol>
                <a:gridCol w="6211957">
                  <a:extLst>
                    <a:ext uri="{9D8B030D-6E8A-4147-A177-3AD203B41FA5}">
                      <a16:colId xmlns:a16="http://schemas.microsoft.com/office/drawing/2014/main" val="2726309809"/>
                    </a:ext>
                  </a:extLst>
                </a:gridCol>
              </a:tblGrid>
              <a:tr h="682487">
                <a:tc>
                  <a:txBody>
                    <a:bodyPr/>
                    <a:lstStyle/>
                    <a:p>
                      <a:pPr algn="ctr">
                        <a:lnSpc>
                          <a:spcPct val="115000"/>
                        </a:lnSpc>
                        <a:spcAft>
                          <a:spcPts val="1000"/>
                        </a:spcAft>
                      </a:pPr>
                      <a:r>
                        <a:rPr lang="en-IN" sz="2000">
                          <a:effectLst/>
                        </a:rPr>
                        <a:t>Input Device</a:t>
                      </a:r>
                      <a:endParaRPr lang="en-IN" sz="2000">
                        <a:effectLst/>
                        <a:latin typeface="Arial" panose="020B060402020202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algn="ctr">
                        <a:lnSpc>
                          <a:spcPct val="115000"/>
                        </a:lnSpc>
                        <a:spcAft>
                          <a:spcPts val="1000"/>
                        </a:spcAft>
                      </a:pPr>
                      <a:r>
                        <a:rPr lang="en-IN" sz="2000">
                          <a:effectLst/>
                        </a:rPr>
                        <a:t>Purpose</a:t>
                      </a:r>
                      <a:endParaRPr lang="en-IN" sz="2000">
                        <a:effectLst/>
                        <a:latin typeface="Arial" panose="020B060402020202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225190325"/>
                  </a:ext>
                </a:extLst>
              </a:tr>
              <a:tr h="682487">
                <a:tc>
                  <a:txBody>
                    <a:bodyPr/>
                    <a:lstStyle/>
                    <a:p>
                      <a:pPr lvl="1">
                        <a:lnSpc>
                          <a:spcPct val="115000"/>
                        </a:lnSpc>
                        <a:spcAft>
                          <a:spcPts val="1000"/>
                        </a:spcAft>
                      </a:pPr>
                      <a:r>
                        <a:rPr lang="en-IN" sz="2000" dirty="0">
                          <a:effectLst/>
                        </a:rPr>
                        <a:t>Atlas Scientific pH Sensor</a:t>
                      </a:r>
                      <a:endParaRPr lang="en-IN" sz="2000" dirty="0">
                        <a:effectLst/>
                        <a:latin typeface="Arial" panose="020B060402020202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lvl="1">
                        <a:lnSpc>
                          <a:spcPct val="115000"/>
                        </a:lnSpc>
                        <a:spcAft>
                          <a:spcPts val="1000"/>
                        </a:spcAft>
                      </a:pPr>
                      <a:r>
                        <a:rPr lang="en-IN" sz="2000">
                          <a:effectLst/>
                        </a:rPr>
                        <a:t>Measures water acidity/alkalinity</a:t>
                      </a:r>
                      <a:endParaRPr lang="en-IN" sz="2000">
                        <a:effectLst/>
                        <a:latin typeface="Arial" panose="020B060402020202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786724053"/>
                  </a:ext>
                </a:extLst>
              </a:tr>
              <a:tr h="682487">
                <a:tc>
                  <a:txBody>
                    <a:bodyPr/>
                    <a:lstStyle/>
                    <a:p>
                      <a:pPr lvl="1">
                        <a:lnSpc>
                          <a:spcPct val="115000"/>
                        </a:lnSpc>
                        <a:spcAft>
                          <a:spcPts val="1000"/>
                        </a:spcAft>
                      </a:pPr>
                      <a:r>
                        <a:rPr lang="en-IN" sz="2000">
                          <a:effectLst/>
                        </a:rPr>
                        <a:t>PT1000 RTD Temperature Sensor</a:t>
                      </a:r>
                      <a:endParaRPr lang="en-IN" sz="2000">
                        <a:effectLst/>
                        <a:latin typeface="Arial" panose="020B060402020202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lvl="1">
                        <a:lnSpc>
                          <a:spcPct val="115000"/>
                        </a:lnSpc>
                        <a:spcAft>
                          <a:spcPts val="1000"/>
                        </a:spcAft>
                      </a:pPr>
                      <a:r>
                        <a:rPr lang="en-IN" sz="2000" dirty="0">
                          <a:effectLst/>
                        </a:rPr>
                        <a:t>Measures water temperature accurately</a:t>
                      </a:r>
                      <a:endParaRPr lang="en-IN" sz="2000" dirty="0">
                        <a:effectLst/>
                        <a:latin typeface="Arial" panose="020B060402020202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3548929086"/>
                  </a:ext>
                </a:extLst>
              </a:tr>
              <a:tr h="682487">
                <a:tc>
                  <a:txBody>
                    <a:bodyPr/>
                    <a:lstStyle/>
                    <a:p>
                      <a:pPr lvl="1">
                        <a:lnSpc>
                          <a:spcPct val="115000"/>
                        </a:lnSpc>
                        <a:spcAft>
                          <a:spcPts val="1000"/>
                        </a:spcAft>
                      </a:pPr>
                      <a:r>
                        <a:rPr lang="en-IN" sz="2000">
                          <a:effectLst/>
                        </a:rPr>
                        <a:t>Dissolved Oxygen (DO) Sensor</a:t>
                      </a:r>
                      <a:endParaRPr lang="en-IN" sz="2000">
                        <a:effectLst/>
                        <a:latin typeface="Arial" panose="020B060402020202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lvl="1">
                        <a:lnSpc>
                          <a:spcPct val="115000"/>
                        </a:lnSpc>
                        <a:spcAft>
                          <a:spcPts val="1000"/>
                        </a:spcAft>
                      </a:pPr>
                      <a:r>
                        <a:rPr lang="en-IN" sz="2000">
                          <a:effectLst/>
                        </a:rPr>
                        <a:t>Measures oxygen concentration in water</a:t>
                      </a:r>
                      <a:endParaRPr lang="en-IN" sz="2000">
                        <a:effectLst/>
                        <a:latin typeface="Arial" panose="020B060402020202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3189409045"/>
                  </a:ext>
                </a:extLst>
              </a:tr>
              <a:tr h="682487">
                <a:tc>
                  <a:txBody>
                    <a:bodyPr/>
                    <a:lstStyle/>
                    <a:p>
                      <a:pPr lvl="1">
                        <a:lnSpc>
                          <a:spcPct val="115000"/>
                        </a:lnSpc>
                        <a:spcAft>
                          <a:spcPts val="1000"/>
                        </a:spcAft>
                      </a:pPr>
                      <a:r>
                        <a:rPr lang="en-IN" sz="2000">
                          <a:effectLst/>
                        </a:rPr>
                        <a:t>Turbidity Sensor</a:t>
                      </a:r>
                      <a:endParaRPr lang="en-IN" sz="2000">
                        <a:effectLst/>
                        <a:latin typeface="Arial" panose="020B060402020202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lvl="1">
                        <a:lnSpc>
                          <a:spcPct val="115000"/>
                        </a:lnSpc>
                        <a:spcAft>
                          <a:spcPts val="1000"/>
                        </a:spcAft>
                      </a:pPr>
                      <a:r>
                        <a:rPr lang="en-IN" sz="2000">
                          <a:effectLst/>
                        </a:rPr>
                        <a:t>Measures water clarity and suspended particles</a:t>
                      </a:r>
                      <a:endParaRPr lang="en-IN" sz="2000">
                        <a:effectLst/>
                        <a:latin typeface="Arial" panose="020B060402020202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173014981"/>
                  </a:ext>
                </a:extLst>
              </a:tr>
              <a:tr h="682487">
                <a:tc>
                  <a:txBody>
                    <a:bodyPr/>
                    <a:lstStyle/>
                    <a:p>
                      <a:pPr lvl="1">
                        <a:lnSpc>
                          <a:spcPct val="115000"/>
                        </a:lnSpc>
                        <a:spcAft>
                          <a:spcPts val="1000"/>
                        </a:spcAft>
                      </a:pPr>
                      <a:r>
                        <a:rPr lang="en-IN" sz="2000">
                          <a:effectLst/>
                        </a:rPr>
                        <a:t>Push Buttons</a:t>
                      </a:r>
                      <a:endParaRPr lang="en-IN" sz="2000">
                        <a:effectLst/>
                        <a:latin typeface="Arial" panose="020B060402020202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lvl="1">
                        <a:lnSpc>
                          <a:spcPct val="115000"/>
                        </a:lnSpc>
                        <a:spcAft>
                          <a:spcPts val="1000"/>
                        </a:spcAft>
                      </a:pPr>
                      <a:r>
                        <a:rPr lang="en-IN" sz="2000">
                          <a:effectLst/>
                        </a:rPr>
                        <a:t>Manual override and menu control</a:t>
                      </a:r>
                      <a:endParaRPr lang="en-IN" sz="2000">
                        <a:effectLst/>
                        <a:latin typeface="Arial" panose="020B060402020202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2650995975"/>
                  </a:ext>
                </a:extLst>
              </a:tr>
              <a:tr h="682487">
                <a:tc>
                  <a:txBody>
                    <a:bodyPr/>
                    <a:lstStyle/>
                    <a:p>
                      <a:pPr lvl="1">
                        <a:lnSpc>
                          <a:spcPct val="115000"/>
                        </a:lnSpc>
                        <a:spcAft>
                          <a:spcPts val="1000"/>
                        </a:spcAft>
                      </a:pPr>
                      <a:r>
                        <a:rPr lang="en-IN" sz="2000">
                          <a:effectLst/>
                        </a:rPr>
                        <a:t>Rotary Encoder</a:t>
                      </a:r>
                      <a:endParaRPr lang="en-IN" sz="2000">
                        <a:effectLst/>
                        <a:latin typeface="Arial" panose="020B060402020202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lvl="1">
                        <a:lnSpc>
                          <a:spcPct val="115000"/>
                        </a:lnSpc>
                        <a:spcAft>
                          <a:spcPts val="1000"/>
                        </a:spcAft>
                      </a:pPr>
                      <a:r>
                        <a:rPr lang="en-IN" sz="2000" dirty="0">
                          <a:effectLst/>
                        </a:rPr>
                        <a:t>Dashboard navigation and calibration settings</a:t>
                      </a:r>
                      <a:endParaRPr lang="en-IN" sz="2000" dirty="0">
                        <a:effectLst/>
                        <a:latin typeface="Arial" panose="020B060402020202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2834823435"/>
                  </a:ext>
                </a:extLst>
              </a:tr>
            </a:tbl>
          </a:graphicData>
        </a:graphic>
      </p:graphicFrame>
    </p:spTree>
    <p:extLst>
      <p:ext uri="{BB962C8B-B14F-4D97-AF65-F5344CB8AC3E}">
        <p14:creationId xmlns:p14="http://schemas.microsoft.com/office/powerpoint/2010/main" val="27585963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F6AE4-309F-44A3-5BDC-2050E0710058}"/>
              </a:ext>
            </a:extLst>
          </p:cNvPr>
          <p:cNvSpPr>
            <a:spLocks noGrp="1"/>
          </p:cNvSpPr>
          <p:nvPr>
            <p:ph type="title"/>
          </p:nvPr>
        </p:nvSpPr>
        <p:spPr>
          <a:xfrm>
            <a:off x="685801" y="609600"/>
            <a:ext cx="10131425" cy="676275"/>
          </a:xfrm>
        </p:spPr>
        <p:txBody>
          <a:bodyPr anchor="t"/>
          <a:lstStyle/>
          <a:p>
            <a:r>
              <a:rPr lang="en-US" dirty="0"/>
              <a:t>Proposed: Electronic Output Devices</a:t>
            </a:r>
            <a:endParaRPr lang="en-CA" dirty="0"/>
          </a:p>
        </p:txBody>
      </p:sp>
      <p:graphicFrame>
        <p:nvGraphicFramePr>
          <p:cNvPr id="5" name="Table 4">
            <a:extLst>
              <a:ext uri="{FF2B5EF4-FFF2-40B4-BE49-F238E27FC236}">
                <a16:creationId xmlns:a16="http://schemas.microsoft.com/office/drawing/2014/main" id="{C68B24DC-F93C-4DF7-A2D0-7F640DBDFE3C}"/>
              </a:ext>
            </a:extLst>
          </p:cNvPr>
          <p:cNvGraphicFramePr>
            <a:graphicFrameLocks noGrp="1"/>
          </p:cNvGraphicFramePr>
          <p:nvPr>
            <p:extLst>
              <p:ext uri="{D42A27DB-BD31-4B8C-83A1-F6EECF244321}">
                <p14:modId xmlns:p14="http://schemas.microsoft.com/office/powerpoint/2010/main" val="3848749084"/>
              </p:ext>
            </p:extLst>
          </p:nvPr>
        </p:nvGraphicFramePr>
        <p:xfrm>
          <a:off x="685799" y="1441174"/>
          <a:ext cx="10823714" cy="4807224"/>
        </p:xfrm>
        <a:graphic>
          <a:graphicData uri="http://schemas.openxmlformats.org/drawingml/2006/table">
            <a:tbl>
              <a:tblPr firstRow="1" firstCol="1" bandRow="1">
                <a:tableStyleId>{5940675A-B579-460E-94D1-54222C63F5DA}</a:tableStyleId>
              </a:tblPr>
              <a:tblGrid>
                <a:gridCol w="4750905">
                  <a:extLst>
                    <a:ext uri="{9D8B030D-6E8A-4147-A177-3AD203B41FA5}">
                      <a16:colId xmlns:a16="http://schemas.microsoft.com/office/drawing/2014/main" val="4270520411"/>
                    </a:ext>
                  </a:extLst>
                </a:gridCol>
                <a:gridCol w="6072809">
                  <a:extLst>
                    <a:ext uri="{9D8B030D-6E8A-4147-A177-3AD203B41FA5}">
                      <a16:colId xmlns:a16="http://schemas.microsoft.com/office/drawing/2014/main" val="2496232083"/>
                    </a:ext>
                  </a:extLst>
                </a:gridCol>
              </a:tblGrid>
              <a:tr h="534136">
                <a:tc>
                  <a:txBody>
                    <a:bodyPr/>
                    <a:lstStyle/>
                    <a:p>
                      <a:pPr algn="ctr">
                        <a:lnSpc>
                          <a:spcPct val="115000"/>
                        </a:lnSpc>
                        <a:spcAft>
                          <a:spcPts val="1000"/>
                        </a:spcAft>
                      </a:pPr>
                      <a:r>
                        <a:rPr lang="en-IN" sz="2000">
                          <a:effectLst/>
                        </a:rPr>
                        <a:t>Output Device</a:t>
                      </a:r>
                      <a:endParaRPr lang="en-IN" sz="2000">
                        <a:effectLst/>
                        <a:latin typeface="Arial" panose="020B060402020202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algn="ctr">
                        <a:lnSpc>
                          <a:spcPct val="115000"/>
                        </a:lnSpc>
                        <a:spcAft>
                          <a:spcPts val="1000"/>
                        </a:spcAft>
                      </a:pPr>
                      <a:r>
                        <a:rPr lang="en-IN" sz="2000">
                          <a:effectLst/>
                        </a:rPr>
                        <a:t>Purpose</a:t>
                      </a:r>
                      <a:endParaRPr lang="en-IN" sz="2000">
                        <a:effectLst/>
                        <a:latin typeface="Arial" panose="020B060402020202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3790378558"/>
                  </a:ext>
                </a:extLst>
              </a:tr>
              <a:tr h="534136">
                <a:tc>
                  <a:txBody>
                    <a:bodyPr/>
                    <a:lstStyle/>
                    <a:p>
                      <a:pPr marL="457200" lvl="1" indent="0">
                        <a:lnSpc>
                          <a:spcPct val="115000"/>
                        </a:lnSpc>
                        <a:spcAft>
                          <a:spcPts val="1000"/>
                        </a:spcAft>
                        <a:buFontTx/>
                        <a:buNone/>
                      </a:pPr>
                      <a:r>
                        <a:rPr lang="en-IN" sz="2000" dirty="0">
                          <a:effectLst/>
                        </a:rPr>
                        <a:t>Precision Peristaltic Pumps</a:t>
                      </a:r>
                      <a:endParaRPr lang="en-IN" sz="2000" dirty="0">
                        <a:effectLst/>
                        <a:latin typeface="Arial" panose="020B060402020202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lvl="1">
                        <a:lnSpc>
                          <a:spcPct val="115000"/>
                        </a:lnSpc>
                        <a:spcAft>
                          <a:spcPts val="1000"/>
                        </a:spcAft>
                      </a:pPr>
                      <a:r>
                        <a:rPr lang="en-IN" sz="2000">
                          <a:effectLst/>
                        </a:rPr>
                        <a:t>Automatic pH balancing chemical dosing</a:t>
                      </a:r>
                      <a:endParaRPr lang="en-IN" sz="2000">
                        <a:effectLst/>
                        <a:latin typeface="Arial" panose="020B060402020202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2339552109"/>
                  </a:ext>
                </a:extLst>
              </a:tr>
              <a:tr h="534136">
                <a:tc>
                  <a:txBody>
                    <a:bodyPr/>
                    <a:lstStyle/>
                    <a:p>
                      <a:pPr marL="457200" lvl="1" indent="0">
                        <a:lnSpc>
                          <a:spcPct val="115000"/>
                        </a:lnSpc>
                        <a:spcAft>
                          <a:spcPts val="1000"/>
                        </a:spcAft>
                        <a:buFontTx/>
                        <a:buNone/>
                      </a:pPr>
                      <a:r>
                        <a:rPr lang="en-IN" sz="2000" dirty="0">
                          <a:effectLst/>
                        </a:rPr>
                        <a:t>Aeration Pump + Air Stone</a:t>
                      </a:r>
                      <a:endParaRPr lang="en-IN" sz="2000" dirty="0">
                        <a:effectLst/>
                        <a:latin typeface="Arial" panose="020B060402020202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lvl="1">
                        <a:lnSpc>
                          <a:spcPct val="115000"/>
                        </a:lnSpc>
                        <a:spcAft>
                          <a:spcPts val="1000"/>
                        </a:spcAft>
                      </a:pPr>
                      <a:r>
                        <a:rPr lang="en-IN" sz="2000">
                          <a:effectLst/>
                        </a:rPr>
                        <a:t>Increase dissolved oxygen levels</a:t>
                      </a:r>
                      <a:endParaRPr lang="en-IN" sz="2000">
                        <a:effectLst/>
                        <a:latin typeface="Arial" panose="020B060402020202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2244605687"/>
                  </a:ext>
                </a:extLst>
              </a:tr>
              <a:tr h="534136">
                <a:tc>
                  <a:txBody>
                    <a:bodyPr/>
                    <a:lstStyle/>
                    <a:p>
                      <a:pPr marL="457200" lvl="1" indent="0">
                        <a:lnSpc>
                          <a:spcPct val="115000"/>
                        </a:lnSpc>
                        <a:spcAft>
                          <a:spcPts val="1000"/>
                        </a:spcAft>
                        <a:buFontTx/>
                        <a:buNone/>
                      </a:pPr>
                      <a:r>
                        <a:rPr lang="en-IN" sz="2000" dirty="0">
                          <a:effectLst/>
                        </a:rPr>
                        <a:t>PWM Cooling Fan</a:t>
                      </a:r>
                      <a:endParaRPr lang="en-IN" sz="2000" dirty="0">
                        <a:effectLst/>
                        <a:latin typeface="Arial" panose="020B060402020202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lvl="1">
                        <a:lnSpc>
                          <a:spcPct val="115000"/>
                        </a:lnSpc>
                        <a:spcAft>
                          <a:spcPts val="1000"/>
                        </a:spcAft>
                      </a:pPr>
                      <a:r>
                        <a:rPr lang="en-IN" sz="2000">
                          <a:effectLst/>
                        </a:rPr>
                        <a:t>Reduce water temperature</a:t>
                      </a:r>
                      <a:endParaRPr lang="en-IN" sz="2000">
                        <a:effectLst/>
                        <a:latin typeface="Arial" panose="020B060402020202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588378915"/>
                  </a:ext>
                </a:extLst>
              </a:tr>
              <a:tr h="534136">
                <a:tc>
                  <a:txBody>
                    <a:bodyPr/>
                    <a:lstStyle/>
                    <a:p>
                      <a:pPr marL="457200" lvl="1" indent="0">
                        <a:lnSpc>
                          <a:spcPct val="115000"/>
                        </a:lnSpc>
                        <a:spcAft>
                          <a:spcPts val="1000"/>
                        </a:spcAft>
                        <a:buFontTx/>
                        <a:buNone/>
                      </a:pPr>
                      <a:r>
                        <a:rPr lang="en-IN" sz="2000" dirty="0">
                          <a:effectLst/>
                        </a:rPr>
                        <a:t>Heater Relay Module</a:t>
                      </a:r>
                      <a:endParaRPr lang="en-IN" sz="2000" dirty="0">
                        <a:effectLst/>
                        <a:latin typeface="Arial" panose="020B060402020202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lvl="1">
                        <a:lnSpc>
                          <a:spcPct val="115000"/>
                        </a:lnSpc>
                        <a:spcAft>
                          <a:spcPts val="1000"/>
                        </a:spcAft>
                      </a:pPr>
                      <a:r>
                        <a:rPr lang="en-IN" sz="2000">
                          <a:effectLst/>
                        </a:rPr>
                        <a:t>Increase water temperature when necessary</a:t>
                      </a:r>
                      <a:endParaRPr lang="en-IN" sz="2000">
                        <a:effectLst/>
                        <a:latin typeface="Arial" panose="020B060402020202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2245888994"/>
                  </a:ext>
                </a:extLst>
              </a:tr>
              <a:tr h="534136">
                <a:tc>
                  <a:txBody>
                    <a:bodyPr/>
                    <a:lstStyle/>
                    <a:p>
                      <a:pPr marL="457200" lvl="1" indent="0">
                        <a:lnSpc>
                          <a:spcPct val="115000"/>
                        </a:lnSpc>
                        <a:spcAft>
                          <a:spcPts val="1000"/>
                        </a:spcAft>
                        <a:buFontTx/>
                        <a:buNone/>
                      </a:pPr>
                      <a:r>
                        <a:rPr lang="en-IN" sz="2000" dirty="0">
                          <a:effectLst/>
                        </a:rPr>
                        <a:t>Water Circulation Pump</a:t>
                      </a:r>
                      <a:endParaRPr lang="en-IN" sz="2000" dirty="0">
                        <a:effectLst/>
                        <a:latin typeface="Arial" panose="020B060402020202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lvl="1">
                        <a:lnSpc>
                          <a:spcPct val="115000"/>
                        </a:lnSpc>
                        <a:spcAft>
                          <a:spcPts val="1000"/>
                        </a:spcAft>
                      </a:pPr>
                      <a:r>
                        <a:rPr lang="en-IN" sz="2000" dirty="0">
                          <a:effectLst/>
                        </a:rPr>
                        <a:t>Improve mixing and stabilize measurements</a:t>
                      </a:r>
                      <a:endParaRPr lang="en-IN" sz="2000" dirty="0">
                        <a:effectLst/>
                        <a:latin typeface="Arial" panose="020B060402020202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2413982679"/>
                  </a:ext>
                </a:extLst>
              </a:tr>
              <a:tr h="534136">
                <a:tc>
                  <a:txBody>
                    <a:bodyPr/>
                    <a:lstStyle/>
                    <a:p>
                      <a:pPr marL="457200" lvl="1" indent="0">
                        <a:lnSpc>
                          <a:spcPct val="115000"/>
                        </a:lnSpc>
                        <a:spcAft>
                          <a:spcPts val="1000"/>
                        </a:spcAft>
                        <a:buFontTx/>
                        <a:buNone/>
                      </a:pPr>
                      <a:r>
                        <a:rPr lang="en-IN" sz="2000" dirty="0">
                          <a:effectLst/>
                        </a:rPr>
                        <a:t>TFT Display Screen</a:t>
                      </a:r>
                      <a:endParaRPr lang="en-IN" sz="2000" dirty="0">
                        <a:effectLst/>
                        <a:latin typeface="Arial" panose="020B060402020202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lvl="1">
                        <a:lnSpc>
                          <a:spcPct val="115000"/>
                        </a:lnSpc>
                        <a:spcAft>
                          <a:spcPts val="1000"/>
                        </a:spcAft>
                      </a:pPr>
                      <a:r>
                        <a:rPr lang="en-IN" sz="2000">
                          <a:effectLst/>
                        </a:rPr>
                        <a:t>Display live system status and sensor readings</a:t>
                      </a:r>
                      <a:endParaRPr lang="en-IN" sz="2000">
                        <a:effectLst/>
                        <a:latin typeface="Arial" panose="020B060402020202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1276527290"/>
                  </a:ext>
                </a:extLst>
              </a:tr>
              <a:tr h="534136">
                <a:tc>
                  <a:txBody>
                    <a:bodyPr/>
                    <a:lstStyle/>
                    <a:p>
                      <a:pPr marL="457200" lvl="1" indent="0">
                        <a:lnSpc>
                          <a:spcPct val="115000"/>
                        </a:lnSpc>
                        <a:spcAft>
                          <a:spcPts val="1000"/>
                        </a:spcAft>
                        <a:buFontTx/>
                        <a:buNone/>
                      </a:pPr>
                      <a:r>
                        <a:rPr lang="en-IN" sz="2000" dirty="0">
                          <a:effectLst/>
                        </a:rPr>
                        <a:t>RGB LEDs</a:t>
                      </a:r>
                      <a:endParaRPr lang="en-IN" sz="2000" dirty="0">
                        <a:effectLst/>
                        <a:latin typeface="Arial" panose="020B060402020202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lvl="1">
                        <a:lnSpc>
                          <a:spcPct val="115000"/>
                        </a:lnSpc>
                        <a:spcAft>
                          <a:spcPts val="1000"/>
                        </a:spcAft>
                      </a:pPr>
                      <a:r>
                        <a:rPr lang="en-IN" sz="2000">
                          <a:effectLst/>
                        </a:rPr>
                        <a:t>Visual status indication</a:t>
                      </a:r>
                      <a:endParaRPr lang="en-IN" sz="2000">
                        <a:effectLst/>
                        <a:latin typeface="Arial" panose="020B060402020202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4205801265"/>
                  </a:ext>
                </a:extLst>
              </a:tr>
              <a:tr h="534136">
                <a:tc>
                  <a:txBody>
                    <a:bodyPr/>
                    <a:lstStyle/>
                    <a:p>
                      <a:pPr marL="457200" lvl="1" indent="0">
                        <a:lnSpc>
                          <a:spcPct val="115000"/>
                        </a:lnSpc>
                        <a:spcAft>
                          <a:spcPts val="1000"/>
                        </a:spcAft>
                        <a:buFontTx/>
                        <a:buNone/>
                      </a:pPr>
                      <a:r>
                        <a:rPr lang="en-IN" sz="2000" dirty="0">
                          <a:effectLst/>
                        </a:rPr>
                        <a:t>Buzzer Alarm</a:t>
                      </a:r>
                      <a:endParaRPr lang="en-IN" sz="2000" dirty="0">
                        <a:effectLst/>
                        <a:latin typeface="Arial" panose="020B060402020202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lvl="1">
                        <a:lnSpc>
                          <a:spcPct val="115000"/>
                        </a:lnSpc>
                        <a:spcAft>
                          <a:spcPts val="1000"/>
                        </a:spcAft>
                      </a:pPr>
                      <a:r>
                        <a:rPr lang="en-IN" sz="2000" dirty="0">
                          <a:effectLst/>
                        </a:rPr>
                        <a:t>Critical warning and fault alerts</a:t>
                      </a:r>
                      <a:endParaRPr lang="en-IN" sz="2000" dirty="0">
                        <a:effectLst/>
                        <a:latin typeface="Arial" panose="020B060402020202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3605871433"/>
                  </a:ext>
                </a:extLst>
              </a:tr>
            </a:tbl>
          </a:graphicData>
        </a:graphic>
      </p:graphicFrame>
    </p:spTree>
    <p:extLst>
      <p:ext uri="{BB962C8B-B14F-4D97-AF65-F5344CB8AC3E}">
        <p14:creationId xmlns:p14="http://schemas.microsoft.com/office/powerpoint/2010/main" val="21595904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F6AE4-309F-44A3-5BDC-2050E0710058}"/>
              </a:ext>
            </a:extLst>
          </p:cNvPr>
          <p:cNvSpPr>
            <a:spLocks noGrp="1"/>
          </p:cNvSpPr>
          <p:nvPr>
            <p:ph type="title"/>
          </p:nvPr>
        </p:nvSpPr>
        <p:spPr>
          <a:xfrm>
            <a:off x="685801" y="609600"/>
            <a:ext cx="10131425" cy="676275"/>
          </a:xfrm>
        </p:spPr>
        <p:txBody>
          <a:bodyPr anchor="t"/>
          <a:lstStyle/>
          <a:p>
            <a:r>
              <a:rPr lang="en-US" dirty="0"/>
              <a:t>Proposed: IoT Dashboard Software</a:t>
            </a:r>
            <a:endParaRPr lang="en-CA" dirty="0"/>
          </a:p>
        </p:txBody>
      </p:sp>
      <p:graphicFrame>
        <p:nvGraphicFramePr>
          <p:cNvPr id="4" name="Content Placeholder 3">
            <a:extLst>
              <a:ext uri="{FF2B5EF4-FFF2-40B4-BE49-F238E27FC236}">
                <a16:creationId xmlns:a16="http://schemas.microsoft.com/office/drawing/2014/main" id="{F62BAA38-DF00-445C-A2EC-1C23826B1578}"/>
              </a:ext>
            </a:extLst>
          </p:cNvPr>
          <p:cNvGraphicFramePr>
            <a:graphicFrameLocks noGrp="1"/>
          </p:cNvGraphicFramePr>
          <p:nvPr>
            <p:ph idx="1"/>
            <p:extLst>
              <p:ext uri="{D42A27DB-BD31-4B8C-83A1-F6EECF244321}">
                <p14:modId xmlns:p14="http://schemas.microsoft.com/office/powerpoint/2010/main" val="3774566627"/>
              </p:ext>
            </p:extLst>
          </p:nvPr>
        </p:nvGraphicFramePr>
        <p:xfrm>
          <a:off x="685801" y="2223052"/>
          <a:ext cx="10863471" cy="4185844"/>
        </p:xfrm>
        <a:graphic>
          <a:graphicData uri="http://schemas.openxmlformats.org/drawingml/2006/table">
            <a:tbl>
              <a:tblPr firstRow="1" bandRow="1">
                <a:tableStyleId>{5940675A-B579-460E-94D1-54222C63F5DA}</a:tableStyleId>
              </a:tblPr>
              <a:tblGrid>
                <a:gridCol w="3621157">
                  <a:extLst>
                    <a:ext uri="{9D8B030D-6E8A-4147-A177-3AD203B41FA5}">
                      <a16:colId xmlns:a16="http://schemas.microsoft.com/office/drawing/2014/main" val="3732715584"/>
                    </a:ext>
                  </a:extLst>
                </a:gridCol>
                <a:gridCol w="3621157">
                  <a:extLst>
                    <a:ext uri="{9D8B030D-6E8A-4147-A177-3AD203B41FA5}">
                      <a16:colId xmlns:a16="http://schemas.microsoft.com/office/drawing/2014/main" val="4078778033"/>
                    </a:ext>
                  </a:extLst>
                </a:gridCol>
                <a:gridCol w="3621157">
                  <a:extLst>
                    <a:ext uri="{9D8B030D-6E8A-4147-A177-3AD203B41FA5}">
                      <a16:colId xmlns:a16="http://schemas.microsoft.com/office/drawing/2014/main" val="222799256"/>
                    </a:ext>
                  </a:extLst>
                </a:gridCol>
              </a:tblGrid>
              <a:tr h="486016">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2000" kern="1200" dirty="0">
                          <a:effectLst/>
                        </a:rPr>
                        <a:t>Uses</a:t>
                      </a:r>
                      <a:endParaRPr lang="en-IN" sz="2000" b="1" kern="1200" dirty="0">
                        <a:solidFill>
                          <a:schemeClr val="lt1"/>
                        </a:solidFill>
                        <a:effectLst/>
                        <a:latin typeface="Arial" panose="020B0604020202020204" pitchFamily="34" charset="0"/>
                        <a:ea typeface="+mn-ea"/>
                        <a:cs typeface="Arial" panose="020B0604020202020204" pitchFamily="34" charset="0"/>
                      </a:endParaRPr>
                    </a:p>
                  </a:txBody>
                  <a:tcPr anchor="ctr"/>
                </a:tc>
                <a:tc>
                  <a:txBody>
                    <a:bodyPr/>
                    <a:lstStyle/>
                    <a:p>
                      <a:r>
                        <a:rPr lang="en-IN" sz="2000" kern="1200" dirty="0">
                          <a:effectLst/>
                        </a:rPr>
                        <a:t>Features</a:t>
                      </a:r>
                      <a:endParaRPr lang="en-IN" sz="2000" dirty="0">
                        <a:latin typeface="Arial" panose="020B0604020202020204" pitchFamily="34" charset="0"/>
                        <a:cs typeface="Arial" panose="020B0604020202020204" pitchFamily="34" charset="0"/>
                      </a:endParaRPr>
                    </a:p>
                  </a:txBody>
                  <a:tcPr anchor="ct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2000" kern="1200" dirty="0">
                          <a:effectLst/>
                        </a:rPr>
                        <a:t>Communication Method</a:t>
                      </a:r>
                      <a:endParaRPr lang="en-IN" sz="2000" b="1" kern="1200" dirty="0">
                        <a:solidFill>
                          <a:schemeClr val="lt1"/>
                        </a:solidFill>
                        <a:effectLst/>
                        <a:latin typeface="Arial" panose="020B0604020202020204" pitchFamily="34" charset="0"/>
                        <a:ea typeface="+mn-ea"/>
                        <a:cs typeface="Arial" panose="020B0604020202020204" pitchFamily="34" charset="0"/>
                      </a:endParaRPr>
                    </a:p>
                  </a:txBody>
                  <a:tcPr anchor="ctr"/>
                </a:tc>
                <a:extLst>
                  <a:ext uri="{0D108BD9-81ED-4DB2-BD59-A6C34878D82A}">
                    <a16:rowId xmlns:a16="http://schemas.microsoft.com/office/drawing/2014/main" val="712436124"/>
                  </a:ext>
                </a:extLst>
              </a:tr>
              <a:tr h="2995993">
                <a:tc>
                  <a:txBody>
                    <a:bodyPr/>
                    <a:lstStyle/>
                    <a:p>
                      <a:pPr marL="285750" lvl="0" indent="-285750">
                        <a:lnSpc>
                          <a:spcPct val="150000"/>
                        </a:lnSpc>
                        <a:buFont typeface="Arial" panose="020B0604020202020204" pitchFamily="34" charset="0"/>
                        <a:buChar char="•"/>
                      </a:pPr>
                      <a:r>
                        <a:rPr lang="en-IN" sz="2000" kern="1200" dirty="0">
                          <a:effectLst/>
                        </a:rPr>
                        <a:t>real-time sensor visualization </a:t>
                      </a:r>
                    </a:p>
                    <a:p>
                      <a:pPr marL="285750" lvl="0" indent="-285750">
                        <a:lnSpc>
                          <a:spcPct val="150000"/>
                        </a:lnSpc>
                        <a:buFont typeface="Arial" panose="020B0604020202020204" pitchFamily="34" charset="0"/>
                        <a:buChar char="•"/>
                      </a:pPr>
                      <a:r>
                        <a:rPr lang="en-IN" sz="2000" kern="1200" dirty="0">
                          <a:effectLst/>
                        </a:rPr>
                        <a:t>remote monitoring </a:t>
                      </a:r>
                    </a:p>
                    <a:p>
                      <a:pPr marL="285750" lvl="0" indent="-285750">
                        <a:lnSpc>
                          <a:spcPct val="150000"/>
                        </a:lnSpc>
                        <a:buFont typeface="Arial" panose="020B0604020202020204" pitchFamily="34" charset="0"/>
                        <a:buChar char="•"/>
                      </a:pPr>
                      <a:r>
                        <a:rPr lang="en-IN" sz="2000" kern="1200" dirty="0">
                          <a:effectLst/>
                        </a:rPr>
                        <a:t>cloud data logging </a:t>
                      </a:r>
                    </a:p>
                    <a:p>
                      <a:pPr marL="285750" lvl="0" indent="-285750">
                        <a:lnSpc>
                          <a:spcPct val="150000"/>
                        </a:lnSpc>
                        <a:buFont typeface="Arial" panose="020B0604020202020204" pitchFamily="34" charset="0"/>
                        <a:buChar char="•"/>
                      </a:pPr>
                      <a:r>
                        <a:rPr lang="en-IN" sz="2000" kern="1200" dirty="0">
                          <a:effectLst/>
                        </a:rPr>
                        <a:t>mobile notifications </a:t>
                      </a:r>
                    </a:p>
                    <a:p>
                      <a:pPr marL="285750" lvl="0" indent="-285750">
                        <a:lnSpc>
                          <a:spcPct val="150000"/>
                        </a:lnSpc>
                        <a:buFont typeface="Arial" panose="020B0604020202020204" pitchFamily="34" charset="0"/>
                        <a:buChar char="•"/>
                      </a:pPr>
                      <a:r>
                        <a:rPr lang="en-IN" sz="2000" kern="1200" dirty="0">
                          <a:effectLst/>
                        </a:rPr>
                        <a:t>alarm alerts </a:t>
                      </a:r>
                    </a:p>
                    <a:p>
                      <a:pPr marL="285750" lvl="0" indent="-285750">
                        <a:lnSpc>
                          <a:spcPct val="150000"/>
                        </a:lnSpc>
                        <a:buFont typeface="Arial" panose="020B0604020202020204" pitchFamily="34" charset="0"/>
                        <a:buChar char="•"/>
                      </a:pPr>
                      <a:r>
                        <a:rPr lang="en-IN" sz="2000" kern="1200" dirty="0">
                          <a:effectLst/>
                        </a:rPr>
                        <a:t>remote manual control </a:t>
                      </a:r>
                      <a:endParaRPr lang="en-IN" sz="2000" kern="1200" dirty="0">
                        <a:solidFill>
                          <a:schemeClr val="dk1"/>
                        </a:solidFill>
                        <a:effectLst/>
                        <a:latin typeface="Arial" panose="020B0604020202020204" pitchFamily="34" charset="0"/>
                        <a:ea typeface="+mn-ea"/>
                        <a:cs typeface="Arial" panose="020B0604020202020204" pitchFamily="34" charset="0"/>
                      </a:endParaRPr>
                    </a:p>
                  </a:txBody>
                  <a:tcPr/>
                </a:tc>
                <a:tc>
                  <a:txBody>
                    <a:bodyPr/>
                    <a:lstStyle/>
                    <a:p>
                      <a:pPr marL="285750" lvl="0" indent="-285750">
                        <a:lnSpc>
                          <a:spcPct val="150000"/>
                        </a:lnSpc>
                        <a:buFont typeface="Arial" panose="020B0604020202020204" pitchFamily="34" charset="0"/>
                        <a:buChar char="•"/>
                      </a:pPr>
                      <a:r>
                        <a:rPr lang="en-IN" sz="2000" kern="1200" dirty="0">
                          <a:effectLst/>
                        </a:rPr>
                        <a:t>live pH graph </a:t>
                      </a:r>
                    </a:p>
                    <a:p>
                      <a:pPr marL="285750" lvl="0" indent="-285750">
                        <a:lnSpc>
                          <a:spcPct val="150000"/>
                        </a:lnSpc>
                        <a:buFont typeface="Arial" panose="020B0604020202020204" pitchFamily="34" charset="0"/>
                        <a:buChar char="•"/>
                      </a:pPr>
                      <a:r>
                        <a:rPr lang="en-IN" sz="2000" kern="1200" dirty="0">
                          <a:effectLst/>
                        </a:rPr>
                        <a:t>temperature graph </a:t>
                      </a:r>
                    </a:p>
                    <a:p>
                      <a:pPr marL="285750" lvl="0" indent="-285750">
                        <a:lnSpc>
                          <a:spcPct val="150000"/>
                        </a:lnSpc>
                        <a:buFont typeface="Arial" panose="020B0604020202020204" pitchFamily="34" charset="0"/>
                        <a:buChar char="•"/>
                      </a:pPr>
                      <a:r>
                        <a:rPr lang="en-IN" sz="2000" kern="1200" dirty="0">
                          <a:effectLst/>
                        </a:rPr>
                        <a:t>dissolved oxygen graph </a:t>
                      </a:r>
                    </a:p>
                    <a:p>
                      <a:pPr marL="285750" lvl="0" indent="-285750">
                        <a:lnSpc>
                          <a:spcPct val="150000"/>
                        </a:lnSpc>
                        <a:buFont typeface="Arial" panose="020B0604020202020204" pitchFamily="34" charset="0"/>
                        <a:buChar char="•"/>
                      </a:pPr>
                      <a:r>
                        <a:rPr lang="en-IN" sz="2000" kern="1200" dirty="0">
                          <a:effectLst/>
                        </a:rPr>
                        <a:t>turbidity graph </a:t>
                      </a:r>
                    </a:p>
                    <a:p>
                      <a:pPr marL="285750" lvl="0" indent="-285750">
                        <a:lnSpc>
                          <a:spcPct val="150000"/>
                        </a:lnSpc>
                        <a:buFont typeface="Arial" panose="020B0604020202020204" pitchFamily="34" charset="0"/>
                        <a:buChar char="•"/>
                      </a:pPr>
                      <a:r>
                        <a:rPr lang="en-IN" sz="2000" kern="1200" dirty="0">
                          <a:effectLst/>
                        </a:rPr>
                        <a:t>actuator status </a:t>
                      </a:r>
                    </a:p>
                    <a:p>
                      <a:pPr marL="285750" lvl="0" indent="-285750">
                        <a:lnSpc>
                          <a:spcPct val="150000"/>
                        </a:lnSpc>
                        <a:buFont typeface="Arial" panose="020B0604020202020204" pitchFamily="34" charset="0"/>
                        <a:buChar char="•"/>
                      </a:pPr>
                      <a:r>
                        <a:rPr lang="en-IN" sz="2000" kern="1200" dirty="0">
                          <a:effectLst/>
                        </a:rPr>
                        <a:t>warning notifications </a:t>
                      </a:r>
                    </a:p>
                    <a:p>
                      <a:pPr marL="285750" lvl="0" indent="-285750">
                        <a:lnSpc>
                          <a:spcPct val="150000"/>
                        </a:lnSpc>
                        <a:buFont typeface="Arial" panose="020B0604020202020204" pitchFamily="34" charset="0"/>
                        <a:buChar char="•"/>
                      </a:pPr>
                      <a:r>
                        <a:rPr lang="en-IN" sz="2000" kern="1200" dirty="0">
                          <a:effectLst/>
                        </a:rPr>
                        <a:t>historical data trends </a:t>
                      </a:r>
                    </a:p>
                    <a:p>
                      <a:pPr marL="285750" lvl="0" indent="-285750">
                        <a:lnSpc>
                          <a:spcPct val="150000"/>
                        </a:lnSpc>
                        <a:buFont typeface="Arial" panose="020B0604020202020204" pitchFamily="34" charset="0"/>
                        <a:buChar char="•"/>
                      </a:pPr>
                      <a:r>
                        <a:rPr lang="en-IN" sz="2000" kern="1200" dirty="0">
                          <a:effectLst/>
                        </a:rPr>
                        <a:t>system health status </a:t>
                      </a:r>
                      <a:endParaRPr lang="en-IN" sz="2000" kern="1200" dirty="0">
                        <a:solidFill>
                          <a:schemeClr val="dk1"/>
                        </a:solidFill>
                        <a:effectLst/>
                        <a:latin typeface="Arial" panose="020B0604020202020204" pitchFamily="34" charset="0"/>
                        <a:ea typeface="+mn-ea"/>
                        <a:cs typeface="Arial" panose="020B0604020202020204" pitchFamily="34" charset="0"/>
                      </a:endParaRPr>
                    </a:p>
                  </a:txBody>
                  <a:tcPr/>
                </a:tc>
                <a:tc>
                  <a:txBody>
                    <a:bodyPr/>
                    <a:lstStyle/>
                    <a:p>
                      <a:pPr marL="285750" lvl="0" indent="-285750">
                        <a:lnSpc>
                          <a:spcPct val="150000"/>
                        </a:lnSpc>
                        <a:buFont typeface="Arial" panose="020B0604020202020204" pitchFamily="34" charset="0"/>
                        <a:buChar char="•"/>
                      </a:pPr>
                      <a:r>
                        <a:rPr lang="en-IN" sz="2000" kern="1200" dirty="0">
                          <a:effectLst/>
                        </a:rPr>
                        <a:t>ESP32 </a:t>
                      </a:r>
                      <a:r>
                        <a:rPr lang="en-IN" sz="2000" kern="1200" dirty="0" err="1">
                          <a:effectLst/>
                        </a:rPr>
                        <a:t>WiFi</a:t>
                      </a:r>
                      <a:r>
                        <a:rPr lang="en-IN" sz="2000" kern="1200" dirty="0">
                          <a:effectLst/>
                        </a:rPr>
                        <a:t> communication </a:t>
                      </a:r>
                    </a:p>
                    <a:p>
                      <a:pPr marL="285750" lvl="0" indent="-285750">
                        <a:lnSpc>
                          <a:spcPct val="150000"/>
                        </a:lnSpc>
                        <a:buFont typeface="Arial" panose="020B0604020202020204" pitchFamily="34" charset="0"/>
                        <a:buChar char="•"/>
                      </a:pPr>
                      <a:r>
                        <a:rPr lang="en-IN" sz="2000" kern="1200" dirty="0">
                          <a:effectLst/>
                        </a:rPr>
                        <a:t>MQTT/</a:t>
                      </a:r>
                      <a:r>
                        <a:rPr lang="en-IN" sz="2000" kern="1200" dirty="0" err="1">
                          <a:effectLst/>
                        </a:rPr>
                        <a:t>Blynk</a:t>
                      </a:r>
                      <a:r>
                        <a:rPr lang="en-IN" sz="2000" kern="1200" dirty="0">
                          <a:effectLst/>
                        </a:rPr>
                        <a:t> cloud communication </a:t>
                      </a:r>
                    </a:p>
                    <a:p>
                      <a:pPr marL="285750" lvl="0" indent="-285750">
                        <a:lnSpc>
                          <a:spcPct val="150000"/>
                        </a:lnSpc>
                        <a:buFont typeface="Arial" panose="020B0604020202020204" pitchFamily="34" charset="0"/>
                        <a:buChar char="•"/>
                      </a:pPr>
                      <a:r>
                        <a:rPr lang="en-IN" sz="2000" kern="1200" dirty="0">
                          <a:effectLst/>
                        </a:rPr>
                        <a:t>smartphone connectivity </a:t>
                      </a:r>
                    </a:p>
                    <a:p>
                      <a:pPr>
                        <a:lnSpc>
                          <a:spcPct val="150000"/>
                        </a:lnSpc>
                      </a:pPr>
                      <a:endParaRPr lang="en-IN" sz="20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729202870"/>
                  </a:ext>
                </a:extLst>
              </a:tr>
            </a:tbl>
          </a:graphicData>
        </a:graphic>
      </p:graphicFrame>
      <p:sp>
        <p:nvSpPr>
          <p:cNvPr id="5" name="Rectangle 4">
            <a:extLst>
              <a:ext uri="{FF2B5EF4-FFF2-40B4-BE49-F238E27FC236}">
                <a16:creationId xmlns:a16="http://schemas.microsoft.com/office/drawing/2014/main" id="{743A5D6C-AD1E-4BD4-9C3F-7A2F1EF87680}"/>
              </a:ext>
            </a:extLst>
          </p:cNvPr>
          <p:cNvSpPr/>
          <p:nvPr/>
        </p:nvSpPr>
        <p:spPr>
          <a:xfrm>
            <a:off x="685801" y="1569797"/>
            <a:ext cx="5100307" cy="461665"/>
          </a:xfrm>
          <a:prstGeom prst="rect">
            <a:avLst/>
          </a:prstGeom>
        </p:spPr>
        <p:txBody>
          <a:bodyPr wrap="none">
            <a:spAutoFit/>
          </a:bodyPr>
          <a:lstStyle/>
          <a:p>
            <a:r>
              <a:rPr lang="en-IN" sz="2400" dirty="0">
                <a:latin typeface="Arial" panose="020B0604020202020204" pitchFamily="34" charset="0"/>
                <a:cs typeface="Arial" panose="020B0604020202020204" pitchFamily="34" charset="0"/>
              </a:rPr>
              <a:t>IoT Platform: </a:t>
            </a:r>
            <a:r>
              <a:rPr lang="en-IN" sz="2400" b="1" dirty="0" err="1">
                <a:latin typeface="Arial" panose="020B0604020202020204" pitchFamily="34" charset="0"/>
                <a:ea typeface="Times New Roman" panose="02020603050405020304" pitchFamily="18" charset="0"/>
                <a:cs typeface="Arial" panose="020B0604020202020204" pitchFamily="34" charset="0"/>
              </a:rPr>
              <a:t>Blynk</a:t>
            </a:r>
            <a:r>
              <a:rPr lang="en-IN" sz="2400" b="1" dirty="0">
                <a:latin typeface="Arial" panose="020B0604020202020204" pitchFamily="34" charset="0"/>
                <a:ea typeface="Times New Roman" panose="02020603050405020304" pitchFamily="18" charset="0"/>
                <a:cs typeface="Arial" panose="020B0604020202020204" pitchFamily="34" charset="0"/>
              </a:rPr>
              <a:t> IoT Dashboard</a:t>
            </a:r>
          </a:p>
        </p:txBody>
      </p:sp>
    </p:spTree>
    <p:extLst>
      <p:ext uri="{BB962C8B-B14F-4D97-AF65-F5344CB8AC3E}">
        <p14:creationId xmlns:p14="http://schemas.microsoft.com/office/powerpoint/2010/main" val="42646875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F6AE4-309F-44A3-5BDC-2050E0710058}"/>
              </a:ext>
            </a:extLst>
          </p:cNvPr>
          <p:cNvSpPr>
            <a:spLocks noGrp="1"/>
          </p:cNvSpPr>
          <p:nvPr>
            <p:ph type="title"/>
          </p:nvPr>
        </p:nvSpPr>
        <p:spPr>
          <a:xfrm>
            <a:off x="685801" y="609600"/>
            <a:ext cx="10131425" cy="676275"/>
          </a:xfrm>
        </p:spPr>
        <p:txBody>
          <a:bodyPr anchor="t"/>
          <a:lstStyle/>
          <a:p>
            <a:r>
              <a:rPr lang="en-US" dirty="0"/>
              <a:t>Anticipated Challenges For Phase 1</a:t>
            </a:r>
            <a:endParaRPr lang="en-CA" dirty="0"/>
          </a:p>
        </p:txBody>
      </p:sp>
      <p:sp>
        <p:nvSpPr>
          <p:cNvPr id="9" name="Content Placeholder 8">
            <a:extLst>
              <a:ext uri="{FF2B5EF4-FFF2-40B4-BE49-F238E27FC236}">
                <a16:creationId xmlns:a16="http://schemas.microsoft.com/office/drawing/2014/main" id="{AB95D849-9A94-48F1-A76C-25BDFF8AF09D}"/>
              </a:ext>
            </a:extLst>
          </p:cNvPr>
          <p:cNvSpPr>
            <a:spLocks noGrp="1"/>
          </p:cNvSpPr>
          <p:nvPr>
            <p:ph idx="1"/>
          </p:nvPr>
        </p:nvSpPr>
        <p:spPr>
          <a:xfrm>
            <a:off x="685801" y="1465792"/>
            <a:ext cx="11105146" cy="4782608"/>
          </a:xfrm>
        </p:spPr>
        <p:txBody>
          <a:bodyPr>
            <a:normAutofit fontScale="92500" lnSpcReduction="10000"/>
          </a:bodyPr>
          <a:lstStyle/>
          <a:p>
            <a:pPr marL="0" indent="0">
              <a:buNone/>
            </a:pPr>
            <a:r>
              <a:rPr lang="en-US" sz="2600" b="1" dirty="0"/>
              <a:t>Component Selection, Prototyping, and Sensor Calibration</a:t>
            </a:r>
          </a:p>
          <a:p>
            <a:pPr marL="0" indent="0">
              <a:buNone/>
            </a:pPr>
            <a:endParaRPr lang="en-US" dirty="0"/>
          </a:p>
          <a:p>
            <a:pPr marL="342900" indent="-342900">
              <a:buFont typeface="+mj-lt"/>
              <a:buAutoNum type="arabicPeriod"/>
            </a:pPr>
            <a:r>
              <a:rPr lang="en-US" sz="2600" dirty="0"/>
              <a:t>Identifying accurate and reliable input/output devices suitable for aquarium automation.</a:t>
            </a:r>
          </a:p>
          <a:p>
            <a:pPr marL="342900" indent="-342900">
              <a:buFont typeface="+mj-lt"/>
              <a:buAutoNum type="arabicPeriod"/>
            </a:pPr>
            <a:r>
              <a:rPr lang="en-US" sz="2600" dirty="0"/>
              <a:t>Procuring compatible sensors, actuators, and electronic components within budget and time constraints</a:t>
            </a:r>
          </a:p>
          <a:p>
            <a:pPr marL="342900" indent="-342900">
              <a:buFont typeface="+mj-lt"/>
              <a:buAutoNum type="arabicPeriod"/>
            </a:pPr>
            <a:r>
              <a:rPr lang="en-US" sz="2600" dirty="0"/>
              <a:t>Integrating multiple sensors and modules together on breadboard during initial prototyping</a:t>
            </a:r>
          </a:p>
          <a:p>
            <a:pPr marL="342900" indent="-342900">
              <a:buFont typeface="+mj-lt"/>
              <a:buAutoNum type="arabicPeriod"/>
            </a:pPr>
            <a:r>
              <a:rPr lang="en-US" sz="2600" dirty="0"/>
              <a:t>Managing unstable wiring connections and electrical noise during breadboard testing</a:t>
            </a:r>
          </a:p>
          <a:p>
            <a:pPr marL="342900" indent="-342900">
              <a:buFont typeface="+mj-lt"/>
              <a:buAutoNum type="arabicPeriod"/>
            </a:pPr>
            <a:r>
              <a:rPr lang="en-US" sz="2600" dirty="0"/>
              <a:t>Proper calibration of pH, dissolved oxygen, temperature, and turbidity sensors</a:t>
            </a:r>
          </a:p>
          <a:p>
            <a:pPr marL="342900" indent="-342900">
              <a:buFont typeface="+mj-lt"/>
              <a:buAutoNum type="arabicPeriod"/>
            </a:pPr>
            <a:r>
              <a:rPr lang="en-US" sz="2600" dirty="0"/>
              <a:t>Obtaining stable and repeatable sensor readings</a:t>
            </a:r>
            <a:endParaRPr lang="en-IN" sz="2600" dirty="0"/>
          </a:p>
        </p:txBody>
      </p:sp>
    </p:spTree>
    <p:extLst>
      <p:ext uri="{BB962C8B-B14F-4D97-AF65-F5344CB8AC3E}">
        <p14:creationId xmlns:p14="http://schemas.microsoft.com/office/powerpoint/2010/main" val="40866731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F6AE4-309F-44A3-5BDC-2050E0710058}"/>
              </a:ext>
            </a:extLst>
          </p:cNvPr>
          <p:cNvSpPr>
            <a:spLocks noGrp="1"/>
          </p:cNvSpPr>
          <p:nvPr>
            <p:ph type="title"/>
          </p:nvPr>
        </p:nvSpPr>
        <p:spPr>
          <a:xfrm>
            <a:off x="685801" y="609600"/>
            <a:ext cx="10131425" cy="676275"/>
          </a:xfrm>
        </p:spPr>
        <p:txBody>
          <a:bodyPr anchor="t"/>
          <a:lstStyle/>
          <a:p>
            <a:r>
              <a:rPr lang="en-US" dirty="0"/>
              <a:t>Anticipated Challenges For Phase 2</a:t>
            </a:r>
            <a:endParaRPr lang="en-CA" dirty="0"/>
          </a:p>
        </p:txBody>
      </p:sp>
      <p:sp>
        <p:nvSpPr>
          <p:cNvPr id="3" name="Content Placeholder 2">
            <a:extLst>
              <a:ext uri="{FF2B5EF4-FFF2-40B4-BE49-F238E27FC236}">
                <a16:creationId xmlns:a16="http://schemas.microsoft.com/office/drawing/2014/main" id="{6D3A4BD6-493B-C197-782D-10FCB3F0F4DD}"/>
              </a:ext>
            </a:extLst>
          </p:cNvPr>
          <p:cNvSpPr>
            <a:spLocks noGrp="1"/>
          </p:cNvSpPr>
          <p:nvPr>
            <p:ph idx="1"/>
          </p:nvPr>
        </p:nvSpPr>
        <p:spPr>
          <a:xfrm>
            <a:off x="685801" y="1518001"/>
            <a:ext cx="11361820" cy="4555540"/>
          </a:xfrm>
        </p:spPr>
        <p:txBody>
          <a:bodyPr anchor="t">
            <a:noAutofit/>
          </a:bodyPr>
          <a:lstStyle/>
          <a:p>
            <a:pPr marL="0" indent="0">
              <a:buNone/>
            </a:pPr>
            <a:r>
              <a:rPr lang="en-US" sz="2400" b="1" dirty="0"/>
              <a:t>PCB Design, 3D Design, System Integration, and IoT Development</a:t>
            </a:r>
          </a:p>
          <a:p>
            <a:pPr marL="0" indent="0">
              <a:buNone/>
            </a:pPr>
            <a:endParaRPr lang="en-IN" sz="2400" b="1" dirty="0">
              <a:cs typeface="Arial" panose="020B0604020202020204" pitchFamily="34" charset="0"/>
            </a:endParaRPr>
          </a:p>
          <a:p>
            <a:pPr marL="457200" indent="-457200">
              <a:buFont typeface="+mj-lt"/>
              <a:buAutoNum type="arabicPeriod"/>
            </a:pPr>
            <a:r>
              <a:rPr lang="en-US" sz="2400" dirty="0"/>
              <a:t>Designing a reliable and organized PCB layout for multiple sensors and actuators</a:t>
            </a:r>
          </a:p>
          <a:p>
            <a:pPr marL="457200" indent="-457200">
              <a:buFont typeface="+mj-lt"/>
              <a:buAutoNum type="arabicPeriod"/>
            </a:pPr>
            <a:r>
              <a:rPr lang="en-US" sz="2400" dirty="0"/>
              <a:t>Designing functional and visually professional 3D-printed components</a:t>
            </a:r>
          </a:p>
          <a:p>
            <a:pPr marL="457200" indent="-457200">
              <a:buFont typeface="+mj-lt"/>
              <a:buAutoNum type="arabicPeriod"/>
            </a:pPr>
            <a:r>
              <a:rPr lang="en-US" sz="2400" dirty="0"/>
              <a:t>Ensuring waterproofing and safe cable management around the aquarium</a:t>
            </a:r>
          </a:p>
          <a:p>
            <a:pPr marL="457200" indent="-457200">
              <a:buFont typeface="+mj-lt"/>
              <a:buAutoNum type="arabicPeriod"/>
            </a:pPr>
            <a:r>
              <a:rPr lang="en-US" sz="2400" dirty="0"/>
              <a:t>Correcting multi-variable interactions between temperature, dissolved oxygen, pH, and circulation systems</a:t>
            </a:r>
          </a:p>
          <a:p>
            <a:pPr marL="457200" indent="-457200">
              <a:buFont typeface="+mj-lt"/>
              <a:buAutoNum type="arabicPeriod"/>
            </a:pPr>
            <a:r>
              <a:rPr lang="en-US" sz="2400" dirty="0"/>
              <a:t>Developing safe dosing and control logic</a:t>
            </a:r>
          </a:p>
          <a:p>
            <a:pPr marL="457200" indent="-457200">
              <a:buFont typeface="+mj-lt"/>
              <a:buAutoNum type="arabicPeriod"/>
            </a:pPr>
            <a:r>
              <a:rPr lang="en-US" sz="2400" dirty="0"/>
              <a:t>Designing and configuring the IoT dashboard for real-time monitoring and control</a:t>
            </a:r>
          </a:p>
          <a:p>
            <a:pPr marL="0" indent="0">
              <a:buNone/>
            </a:pPr>
            <a:endParaRPr lang="en-US" sz="2400" dirty="0"/>
          </a:p>
          <a:p>
            <a:pPr marL="0" indent="0">
              <a:buNone/>
            </a:pPr>
            <a:endParaRPr lang="en-US" sz="2400" dirty="0"/>
          </a:p>
          <a:p>
            <a:pPr marL="0" indent="0">
              <a:buNone/>
            </a:pPr>
            <a:endParaRPr lang="en-CA" sz="2400" dirty="0">
              <a:cs typeface="Arial" panose="020B0604020202020204" pitchFamily="34" charset="0"/>
            </a:endParaRPr>
          </a:p>
        </p:txBody>
      </p:sp>
    </p:spTree>
    <p:extLst>
      <p:ext uri="{BB962C8B-B14F-4D97-AF65-F5344CB8AC3E}">
        <p14:creationId xmlns:p14="http://schemas.microsoft.com/office/powerpoint/2010/main" val="7182808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F6AE4-309F-44A3-5BDC-2050E0710058}"/>
              </a:ext>
            </a:extLst>
          </p:cNvPr>
          <p:cNvSpPr>
            <a:spLocks noGrp="1"/>
          </p:cNvSpPr>
          <p:nvPr>
            <p:ph type="title"/>
          </p:nvPr>
        </p:nvSpPr>
        <p:spPr>
          <a:xfrm>
            <a:off x="685801" y="609600"/>
            <a:ext cx="10131425" cy="676275"/>
          </a:xfrm>
        </p:spPr>
        <p:txBody>
          <a:bodyPr anchor="t"/>
          <a:lstStyle/>
          <a:p>
            <a:r>
              <a:rPr lang="en-US" dirty="0"/>
              <a:t>Anticipated Challenges For Phase 3</a:t>
            </a:r>
            <a:endParaRPr lang="en-CA" dirty="0"/>
          </a:p>
        </p:txBody>
      </p:sp>
      <p:sp>
        <p:nvSpPr>
          <p:cNvPr id="3" name="Content Placeholder 2">
            <a:extLst>
              <a:ext uri="{FF2B5EF4-FFF2-40B4-BE49-F238E27FC236}">
                <a16:creationId xmlns:a16="http://schemas.microsoft.com/office/drawing/2014/main" id="{6D3A4BD6-493B-C197-782D-10FCB3F0F4DD}"/>
              </a:ext>
            </a:extLst>
          </p:cNvPr>
          <p:cNvSpPr>
            <a:spLocks noGrp="1"/>
          </p:cNvSpPr>
          <p:nvPr>
            <p:ph idx="1"/>
          </p:nvPr>
        </p:nvSpPr>
        <p:spPr>
          <a:xfrm>
            <a:off x="685801" y="1943780"/>
            <a:ext cx="10131425" cy="3674166"/>
          </a:xfrm>
        </p:spPr>
        <p:txBody>
          <a:bodyPr anchor="t">
            <a:normAutofit/>
          </a:bodyPr>
          <a:lstStyle/>
          <a:p>
            <a:pPr marL="0" indent="0">
              <a:buNone/>
            </a:pPr>
            <a:r>
              <a:rPr lang="en-US" sz="2400" b="1" dirty="0"/>
              <a:t>Final Assembly, Demonstration, and Showcase Preparation</a:t>
            </a:r>
            <a:br>
              <a:rPr lang="en-IN" sz="2400" b="1" dirty="0">
                <a:cs typeface="Arial" panose="020B0604020202020204" pitchFamily="34" charset="0"/>
              </a:rPr>
            </a:br>
            <a:endParaRPr lang="en-IN" sz="2400" b="1" dirty="0">
              <a:cs typeface="Arial" panose="020B0604020202020204" pitchFamily="34" charset="0"/>
            </a:endParaRPr>
          </a:p>
          <a:p>
            <a:pPr marL="457200" lvl="0" indent="-457200">
              <a:buFont typeface="+mj-lt"/>
              <a:buAutoNum type="arabicPeriod"/>
            </a:pPr>
            <a:r>
              <a:rPr lang="en-US" sz="2400" dirty="0"/>
              <a:t>Integrating all hardware subsystems into one stable working prototype</a:t>
            </a:r>
          </a:p>
          <a:p>
            <a:pPr marL="457200" lvl="0" indent="-457200">
              <a:buFont typeface="+mj-lt"/>
              <a:buAutoNum type="arabicPeriod"/>
            </a:pPr>
            <a:r>
              <a:rPr lang="en-US" sz="2400" dirty="0"/>
              <a:t>Managing enclosure layout, tubing arrangement, and wiring organization</a:t>
            </a:r>
          </a:p>
          <a:p>
            <a:pPr marL="457200" lvl="0" indent="-457200">
              <a:buFont typeface="+mj-lt"/>
              <a:buAutoNum type="arabicPeriod"/>
            </a:pPr>
            <a:r>
              <a:rPr lang="en-US" sz="2400" dirty="0"/>
              <a:t>Ensuring long-term reliability during extended testing</a:t>
            </a:r>
          </a:p>
          <a:p>
            <a:pPr marL="457200" lvl="0" indent="-457200">
              <a:buFont typeface="+mj-lt"/>
              <a:buAutoNum type="arabicPeriod"/>
            </a:pPr>
            <a:r>
              <a:rPr lang="en-US" sz="2400" dirty="0"/>
              <a:t>Fine-tuning automation behavior for smooth and intelligent system response</a:t>
            </a:r>
          </a:p>
          <a:p>
            <a:pPr marL="457200" lvl="0" indent="-457200">
              <a:buFont typeface="+mj-lt"/>
              <a:buAutoNum type="arabicPeriod"/>
            </a:pPr>
            <a:r>
              <a:rPr lang="en-US" sz="2400" dirty="0"/>
              <a:t>Managing time effectively before final showcase submission</a:t>
            </a:r>
            <a:endParaRPr lang="en-CA" sz="2400" dirty="0">
              <a:cs typeface="Arial" panose="020B0604020202020204" pitchFamily="34" charset="0"/>
            </a:endParaRPr>
          </a:p>
        </p:txBody>
      </p:sp>
    </p:spTree>
    <p:extLst>
      <p:ext uri="{BB962C8B-B14F-4D97-AF65-F5344CB8AC3E}">
        <p14:creationId xmlns:p14="http://schemas.microsoft.com/office/powerpoint/2010/main" val="29567242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F6AE4-309F-44A3-5BDC-2050E0710058}"/>
              </a:ext>
            </a:extLst>
          </p:cNvPr>
          <p:cNvSpPr>
            <a:spLocks noGrp="1"/>
          </p:cNvSpPr>
          <p:nvPr>
            <p:ph type="title"/>
          </p:nvPr>
        </p:nvSpPr>
        <p:spPr>
          <a:xfrm>
            <a:off x="685801" y="609600"/>
            <a:ext cx="10131425" cy="676275"/>
          </a:xfrm>
        </p:spPr>
        <p:txBody>
          <a:bodyPr anchor="t"/>
          <a:lstStyle/>
          <a:p>
            <a:r>
              <a:rPr lang="en-US" dirty="0"/>
              <a:t>Plan To Overcome Each Major Challenge</a:t>
            </a:r>
            <a:endParaRPr lang="en-CA" dirty="0"/>
          </a:p>
        </p:txBody>
      </p:sp>
      <p:sp>
        <p:nvSpPr>
          <p:cNvPr id="3" name="Content Placeholder 2">
            <a:extLst>
              <a:ext uri="{FF2B5EF4-FFF2-40B4-BE49-F238E27FC236}">
                <a16:creationId xmlns:a16="http://schemas.microsoft.com/office/drawing/2014/main" id="{6D3A4BD6-493B-C197-782D-10FCB3F0F4DD}"/>
              </a:ext>
            </a:extLst>
          </p:cNvPr>
          <p:cNvSpPr>
            <a:spLocks noGrp="1"/>
          </p:cNvSpPr>
          <p:nvPr>
            <p:ph idx="1"/>
          </p:nvPr>
        </p:nvSpPr>
        <p:spPr>
          <a:xfrm>
            <a:off x="685801" y="1447801"/>
            <a:ext cx="10131425" cy="4343400"/>
          </a:xfrm>
        </p:spPr>
        <p:txBody>
          <a:bodyPr anchor="t">
            <a:normAutofit/>
          </a:bodyPr>
          <a:lstStyle/>
          <a:p>
            <a:pPr marL="0" indent="0">
              <a:buNone/>
            </a:pPr>
            <a:r>
              <a:rPr lang="en-IN" sz="2400" b="1" dirty="0">
                <a:latin typeface="Arial" panose="020B0604020202020204" pitchFamily="34" charset="0"/>
                <a:cs typeface="Arial" panose="020B0604020202020204" pitchFamily="34" charset="0"/>
              </a:rPr>
              <a:t>Phase 1 Solutions</a:t>
            </a:r>
          </a:p>
          <a:p>
            <a:pPr marL="0" indent="0">
              <a:buNone/>
            </a:pPr>
            <a:endParaRPr lang="en-CA" sz="2400" dirty="0"/>
          </a:p>
        </p:txBody>
      </p:sp>
      <p:graphicFrame>
        <p:nvGraphicFramePr>
          <p:cNvPr id="5" name="Table 4">
            <a:extLst>
              <a:ext uri="{FF2B5EF4-FFF2-40B4-BE49-F238E27FC236}">
                <a16:creationId xmlns:a16="http://schemas.microsoft.com/office/drawing/2014/main" id="{7BB3ABE6-C565-41D4-AE56-C80D94D5234A}"/>
              </a:ext>
            </a:extLst>
          </p:cNvPr>
          <p:cNvGraphicFramePr>
            <a:graphicFrameLocks noGrp="1"/>
          </p:cNvGraphicFramePr>
          <p:nvPr>
            <p:extLst>
              <p:ext uri="{D42A27DB-BD31-4B8C-83A1-F6EECF244321}">
                <p14:modId xmlns:p14="http://schemas.microsoft.com/office/powerpoint/2010/main" val="977630935"/>
              </p:ext>
            </p:extLst>
          </p:nvPr>
        </p:nvGraphicFramePr>
        <p:xfrm>
          <a:off x="685801" y="2131891"/>
          <a:ext cx="10820398" cy="4018654"/>
        </p:xfrm>
        <a:graphic>
          <a:graphicData uri="http://schemas.openxmlformats.org/drawingml/2006/table">
            <a:tbl>
              <a:tblPr>
                <a:tableStyleId>{5940675A-B579-460E-94D1-54222C63F5DA}</a:tableStyleId>
              </a:tblPr>
              <a:tblGrid>
                <a:gridCol w="3568565">
                  <a:extLst>
                    <a:ext uri="{9D8B030D-6E8A-4147-A177-3AD203B41FA5}">
                      <a16:colId xmlns:a16="http://schemas.microsoft.com/office/drawing/2014/main" val="371473829"/>
                    </a:ext>
                  </a:extLst>
                </a:gridCol>
                <a:gridCol w="7251833">
                  <a:extLst>
                    <a:ext uri="{9D8B030D-6E8A-4147-A177-3AD203B41FA5}">
                      <a16:colId xmlns:a16="http://schemas.microsoft.com/office/drawing/2014/main" val="474927751"/>
                    </a:ext>
                  </a:extLst>
                </a:gridCol>
              </a:tblGrid>
              <a:tr h="412084">
                <a:tc>
                  <a:txBody>
                    <a:bodyPr/>
                    <a:lstStyle/>
                    <a:p>
                      <a:r>
                        <a:rPr lang="en-IN" sz="2000" dirty="0"/>
                        <a:t>Challenge</a:t>
                      </a:r>
                    </a:p>
                  </a:txBody>
                  <a:tcPr marL="60828" marR="60828" marT="30414" marB="30414" anchor="ctr"/>
                </a:tc>
                <a:tc>
                  <a:txBody>
                    <a:bodyPr/>
                    <a:lstStyle/>
                    <a:p>
                      <a:r>
                        <a:rPr lang="en-IN" sz="2000"/>
                        <a:t>Proposed Solution</a:t>
                      </a:r>
                    </a:p>
                  </a:txBody>
                  <a:tcPr marL="60828" marR="60828" marT="30414" marB="30414" anchor="ctr"/>
                </a:tc>
                <a:extLst>
                  <a:ext uri="{0D108BD9-81ED-4DB2-BD59-A6C34878D82A}">
                    <a16:rowId xmlns:a16="http://schemas.microsoft.com/office/drawing/2014/main" val="1037165177"/>
                  </a:ext>
                </a:extLst>
              </a:tr>
              <a:tr h="721314">
                <a:tc>
                  <a:txBody>
                    <a:bodyPr/>
                    <a:lstStyle/>
                    <a:p>
                      <a:r>
                        <a:rPr lang="en-US" sz="2000" dirty="0"/>
                        <a:t>Selecting suitable sensors and actuators</a:t>
                      </a:r>
                    </a:p>
                  </a:txBody>
                  <a:tcPr marL="60828" marR="60828" marT="30414" marB="30414" anchor="ctr"/>
                </a:tc>
                <a:tc>
                  <a:txBody>
                    <a:bodyPr/>
                    <a:lstStyle/>
                    <a:p>
                      <a:r>
                        <a:rPr lang="en-US" sz="2000" dirty="0"/>
                        <a:t>Research industrial-grade and widely tested components before procurement</a:t>
                      </a:r>
                    </a:p>
                  </a:txBody>
                  <a:tcPr marL="60828" marR="60828" marT="30414" marB="30414" anchor="ctr"/>
                </a:tc>
                <a:extLst>
                  <a:ext uri="{0D108BD9-81ED-4DB2-BD59-A6C34878D82A}">
                    <a16:rowId xmlns:a16="http://schemas.microsoft.com/office/drawing/2014/main" val="3470843595"/>
                  </a:ext>
                </a:extLst>
              </a:tr>
              <a:tr h="721314">
                <a:tc>
                  <a:txBody>
                    <a:bodyPr/>
                    <a:lstStyle/>
                    <a:p>
                      <a:r>
                        <a:rPr lang="en-US" sz="2000" dirty="0"/>
                        <a:t>Procurement delays or compatibility issues</a:t>
                      </a:r>
                    </a:p>
                  </a:txBody>
                  <a:tcPr marL="60828" marR="60828" marT="30414" marB="30414" anchor="ctr"/>
                </a:tc>
                <a:tc>
                  <a:txBody>
                    <a:bodyPr/>
                    <a:lstStyle/>
                    <a:p>
                      <a:r>
                        <a:rPr lang="en-US" sz="2000"/>
                        <a:t>Order components early and maintain backup components where possible</a:t>
                      </a:r>
                    </a:p>
                  </a:txBody>
                  <a:tcPr marL="60828" marR="60828" marT="30414" marB="30414" anchor="ctr"/>
                </a:tc>
                <a:extLst>
                  <a:ext uri="{0D108BD9-81ED-4DB2-BD59-A6C34878D82A}">
                    <a16:rowId xmlns:a16="http://schemas.microsoft.com/office/drawing/2014/main" val="3082093217"/>
                  </a:ext>
                </a:extLst>
              </a:tr>
              <a:tr h="721314">
                <a:tc>
                  <a:txBody>
                    <a:bodyPr/>
                    <a:lstStyle/>
                    <a:p>
                      <a:r>
                        <a:rPr lang="en-IN" sz="2000" dirty="0"/>
                        <a:t>Breadboard instability</a:t>
                      </a:r>
                    </a:p>
                  </a:txBody>
                  <a:tcPr marL="60828" marR="60828" marT="30414" marB="30414" anchor="ctr"/>
                </a:tc>
                <a:tc>
                  <a:txBody>
                    <a:bodyPr/>
                    <a:lstStyle/>
                    <a:p>
                      <a:r>
                        <a:rPr lang="en-US" sz="2000" dirty="0"/>
                        <a:t>Use modular testing and verify each subsystem individually before combining</a:t>
                      </a:r>
                    </a:p>
                  </a:txBody>
                  <a:tcPr marL="60828" marR="60828" marT="30414" marB="30414" anchor="ctr"/>
                </a:tc>
                <a:extLst>
                  <a:ext uri="{0D108BD9-81ED-4DB2-BD59-A6C34878D82A}">
                    <a16:rowId xmlns:a16="http://schemas.microsoft.com/office/drawing/2014/main" val="683962166"/>
                  </a:ext>
                </a:extLst>
              </a:tr>
              <a:tr h="721314">
                <a:tc>
                  <a:txBody>
                    <a:bodyPr/>
                    <a:lstStyle/>
                    <a:p>
                      <a:r>
                        <a:rPr lang="en-IN" sz="2000" dirty="0"/>
                        <a:t>Sensor calibration difficulty</a:t>
                      </a:r>
                    </a:p>
                  </a:txBody>
                  <a:tcPr marL="60828" marR="60828" marT="30414" marB="30414" anchor="ctr"/>
                </a:tc>
                <a:tc>
                  <a:txBody>
                    <a:bodyPr/>
                    <a:lstStyle/>
                    <a:p>
                      <a:r>
                        <a:rPr lang="en-US" sz="2000" dirty="0"/>
                        <a:t>Use standard calibration solutions and repeated testing procedures</a:t>
                      </a:r>
                    </a:p>
                  </a:txBody>
                  <a:tcPr marL="60828" marR="60828" marT="30414" marB="30414" anchor="ctr"/>
                </a:tc>
                <a:extLst>
                  <a:ext uri="{0D108BD9-81ED-4DB2-BD59-A6C34878D82A}">
                    <a16:rowId xmlns:a16="http://schemas.microsoft.com/office/drawing/2014/main" val="291512720"/>
                  </a:ext>
                </a:extLst>
              </a:tr>
              <a:tr h="721314">
                <a:tc>
                  <a:txBody>
                    <a:bodyPr/>
                    <a:lstStyle/>
                    <a:p>
                      <a:r>
                        <a:rPr lang="en-IN" sz="2000" dirty="0"/>
                        <a:t>Inconsistent measurements</a:t>
                      </a:r>
                    </a:p>
                  </a:txBody>
                  <a:tcPr marL="60828" marR="60828" marT="30414" marB="30414" anchor="ctr"/>
                </a:tc>
                <a:tc>
                  <a:txBody>
                    <a:bodyPr/>
                    <a:lstStyle/>
                    <a:p>
                      <a:r>
                        <a:rPr lang="en-US" sz="2000" dirty="0"/>
                        <a:t>Install proper water circulation and stable sensor mounting system</a:t>
                      </a:r>
                    </a:p>
                  </a:txBody>
                  <a:tcPr marL="60828" marR="60828" marT="30414" marB="30414" anchor="ctr"/>
                </a:tc>
                <a:extLst>
                  <a:ext uri="{0D108BD9-81ED-4DB2-BD59-A6C34878D82A}">
                    <a16:rowId xmlns:a16="http://schemas.microsoft.com/office/drawing/2014/main" val="1347082670"/>
                  </a:ext>
                </a:extLst>
              </a:tr>
            </a:tbl>
          </a:graphicData>
        </a:graphic>
      </p:graphicFrame>
    </p:spTree>
    <p:extLst>
      <p:ext uri="{BB962C8B-B14F-4D97-AF65-F5344CB8AC3E}">
        <p14:creationId xmlns:p14="http://schemas.microsoft.com/office/powerpoint/2010/main" val="26342713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F6AE4-309F-44A3-5BDC-2050E0710058}"/>
              </a:ext>
            </a:extLst>
          </p:cNvPr>
          <p:cNvSpPr>
            <a:spLocks noGrp="1"/>
          </p:cNvSpPr>
          <p:nvPr>
            <p:ph type="title"/>
          </p:nvPr>
        </p:nvSpPr>
        <p:spPr>
          <a:xfrm>
            <a:off x="685801" y="609600"/>
            <a:ext cx="10131425" cy="676275"/>
          </a:xfrm>
        </p:spPr>
        <p:txBody>
          <a:bodyPr anchor="t"/>
          <a:lstStyle/>
          <a:p>
            <a:r>
              <a:rPr lang="en-US" dirty="0"/>
              <a:t>Plan To Overcome Each Major Challenge</a:t>
            </a:r>
            <a:endParaRPr lang="en-CA" dirty="0"/>
          </a:p>
        </p:txBody>
      </p:sp>
      <p:sp>
        <p:nvSpPr>
          <p:cNvPr id="3" name="Content Placeholder 2">
            <a:extLst>
              <a:ext uri="{FF2B5EF4-FFF2-40B4-BE49-F238E27FC236}">
                <a16:creationId xmlns:a16="http://schemas.microsoft.com/office/drawing/2014/main" id="{6D3A4BD6-493B-C197-782D-10FCB3F0F4DD}"/>
              </a:ext>
            </a:extLst>
          </p:cNvPr>
          <p:cNvSpPr>
            <a:spLocks noGrp="1"/>
          </p:cNvSpPr>
          <p:nvPr>
            <p:ph idx="1"/>
          </p:nvPr>
        </p:nvSpPr>
        <p:spPr>
          <a:xfrm>
            <a:off x="685801" y="1447801"/>
            <a:ext cx="10131425" cy="4343400"/>
          </a:xfrm>
        </p:spPr>
        <p:txBody>
          <a:bodyPr anchor="t">
            <a:normAutofit/>
          </a:bodyPr>
          <a:lstStyle/>
          <a:p>
            <a:pPr marL="0" indent="0">
              <a:buNone/>
            </a:pPr>
            <a:r>
              <a:rPr lang="en-IN" sz="2400" b="1" dirty="0">
                <a:latin typeface="Arial" panose="020B0604020202020204" pitchFamily="34" charset="0"/>
                <a:cs typeface="Arial" panose="020B0604020202020204" pitchFamily="34" charset="0"/>
              </a:rPr>
              <a:t>Phase 2 Solutions</a:t>
            </a:r>
          </a:p>
          <a:p>
            <a:pPr marL="0" indent="0">
              <a:buNone/>
            </a:pPr>
            <a:endParaRPr lang="en-CA" sz="2400" dirty="0"/>
          </a:p>
        </p:txBody>
      </p:sp>
      <p:graphicFrame>
        <p:nvGraphicFramePr>
          <p:cNvPr id="4" name="Table 3">
            <a:extLst>
              <a:ext uri="{FF2B5EF4-FFF2-40B4-BE49-F238E27FC236}">
                <a16:creationId xmlns:a16="http://schemas.microsoft.com/office/drawing/2014/main" id="{899418B0-A68A-4746-8D52-F597B02BAFF0}"/>
              </a:ext>
            </a:extLst>
          </p:cNvPr>
          <p:cNvGraphicFramePr>
            <a:graphicFrameLocks noGrp="1"/>
          </p:cNvGraphicFramePr>
          <p:nvPr>
            <p:extLst>
              <p:ext uri="{D42A27DB-BD31-4B8C-83A1-F6EECF244321}">
                <p14:modId xmlns:p14="http://schemas.microsoft.com/office/powerpoint/2010/main" val="1688874410"/>
              </p:ext>
            </p:extLst>
          </p:nvPr>
        </p:nvGraphicFramePr>
        <p:xfrm>
          <a:off x="685801" y="2017643"/>
          <a:ext cx="10704442" cy="4133493"/>
        </p:xfrm>
        <a:graphic>
          <a:graphicData uri="http://schemas.openxmlformats.org/drawingml/2006/table">
            <a:tbl>
              <a:tblPr>
                <a:tableStyleId>{5940675A-B579-460E-94D1-54222C63F5DA}</a:tableStyleId>
              </a:tblPr>
              <a:tblGrid>
                <a:gridCol w="3231681">
                  <a:extLst>
                    <a:ext uri="{9D8B030D-6E8A-4147-A177-3AD203B41FA5}">
                      <a16:colId xmlns:a16="http://schemas.microsoft.com/office/drawing/2014/main" val="3638998713"/>
                    </a:ext>
                  </a:extLst>
                </a:gridCol>
                <a:gridCol w="7472761">
                  <a:extLst>
                    <a:ext uri="{9D8B030D-6E8A-4147-A177-3AD203B41FA5}">
                      <a16:colId xmlns:a16="http://schemas.microsoft.com/office/drawing/2014/main" val="2275607170"/>
                    </a:ext>
                  </a:extLst>
                </a:gridCol>
              </a:tblGrid>
              <a:tr h="258647">
                <a:tc>
                  <a:txBody>
                    <a:bodyPr/>
                    <a:lstStyle/>
                    <a:p>
                      <a:r>
                        <a:rPr lang="en-IN" sz="2000"/>
                        <a:t>Challenge</a:t>
                      </a:r>
                    </a:p>
                  </a:txBody>
                  <a:tcPr marL="54473" marR="54473" marT="27236" marB="27236" anchor="ctr"/>
                </a:tc>
                <a:tc>
                  <a:txBody>
                    <a:bodyPr/>
                    <a:lstStyle/>
                    <a:p>
                      <a:r>
                        <a:rPr lang="en-IN" sz="2000" dirty="0"/>
                        <a:t>Proposed Solution</a:t>
                      </a:r>
                    </a:p>
                  </a:txBody>
                  <a:tcPr marL="54473" marR="54473" marT="27236" marB="27236" anchor="ctr"/>
                </a:tc>
                <a:extLst>
                  <a:ext uri="{0D108BD9-81ED-4DB2-BD59-A6C34878D82A}">
                    <a16:rowId xmlns:a16="http://schemas.microsoft.com/office/drawing/2014/main" val="1275799856"/>
                  </a:ext>
                </a:extLst>
              </a:tr>
              <a:tr h="453861">
                <a:tc>
                  <a:txBody>
                    <a:bodyPr/>
                    <a:lstStyle/>
                    <a:p>
                      <a:r>
                        <a:rPr lang="en-IN" sz="2000"/>
                        <a:t>PCB complexity</a:t>
                      </a:r>
                    </a:p>
                  </a:txBody>
                  <a:tcPr marL="54473" marR="54473" marT="27236" marB="27236" anchor="ctr"/>
                </a:tc>
                <a:tc>
                  <a:txBody>
                    <a:bodyPr/>
                    <a:lstStyle/>
                    <a:p>
                      <a:r>
                        <a:rPr lang="en-US" sz="2000"/>
                        <a:t>Use modular PCB design with detachable connectors and separated functional zones</a:t>
                      </a:r>
                    </a:p>
                  </a:txBody>
                  <a:tcPr marL="54473" marR="54473" marT="27236" marB="27236" anchor="ctr"/>
                </a:tc>
                <a:extLst>
                  <a:ext uri="{0D108BD9-81ED-4DB2-BD59-A6C34878D82A}">
                    <a16:rowId xmlns:a16="http://schemas.microsoft.com/office/drawing/2014/main" val="2571539777"/>
                  </a:ext>
                </a:extLst>
              </a:tr>
              <a:tr h="453861">
                <a:tc>
                  <a:txBody>
                    <a:bodyPr/>
                    <a:lstStyle/>
                    <a:p>
                      <a:r>
                        <a:rPr lang="en-IN" sz="2000" dirty="0"/>
                        <a:t>3D design difficulties</a:t>
                      </a:r>
                    </a:p>
                  </a:txBody>
                  <a:tcPr marL="54473" marR="54473" marT="27236" marB="27236" anchor="ctr"/>
                </a:tc>
                <a:tc>
                  <a:txBody>
                    <a:bodyPr/>
                    <a:lstStyle/>
                    <a:p>
                      <a:r>
                        <a:rPr lang="en-US" sz="2000" dirty="0"/>
                        <a:t>Design simple modular parts first, then refine for final showcase</a:t>
                      </a:r>
                    </a:p>
                  </a:txBody>
                  <a:tcPr marL="54473" marR="54473" marT="27236" marB="27236" anchor="ctr"/>
                </a:tc>
                <a:extLst>
                  <a:ext uri="{0D108BD9-81ED-4DB2-BD59-A6C34878D82A}">
                    <a16:rowId xmlns:a16="http://schemas.microsoft.com/office/drawing/2014/main" val="3100525240"/>
                  </a:ext>
                </a:extLst>
              </a:tr>
              <a:tr h="453861">
                <a:tc>
                  <a:txBody>
                    <a:bodyPr/>
                    <a:lstStyle/>
                    <a:p>
                      <a:r>
                        <a:rPr lang="en-IN" sz="2000"/>
                        <a:t>Waterproofing and cable management</a:t>
                      </a:r>
                    </a:p>
                  </a:txBody>
                  <a:tcPr marL="54473" marR="54473" marT="27236" marB="27236" anchor="ctr"/>
                </a:tc>
                <a:tc>
                  <a:txBody>
                    <a:bodyPr/>
                    <a:lstStyle/>
                    <a:p>
                      <a:r>
                        <a:rPr lang="en-US" sz="2000"/>
                        <a:t>Use sealed enclosures, cable sleeves, and waterproof connectors</a:t>
                      </a:r>
                    </a:p>
                  </a:txBody>
                  <a:tcPr marL="54473" marR="54473" marT="27236" marB="27236" anchor="ctr"/>
                </a:tc>
                <a:extLst>
                  <a:ext uri="{0D108BD9-81ED-4DB2-BD59-A6C34878D82A}">
                    <a16:rowId xmlns:a16="http://schemas.microsoft.com/office/drawing/2014/main" val="2151793256"/>
                  </a:ext>
                </a:extLst>
              </a:tr>
              <a:tr h="453861">
                <a:tc>
                  <a:txBody>
                    <a:bodyPr/>
                    <a:lstStyle/>
                    <a:p>
                      <a:r>
                        <a:rPr lang="en-IN" sz="2000" dirty="0"/>
                        <a:t>Multi-variable sensor interaction</a:t>
                      </a:r>
                    </a:p>
                  </a:txBody>
                  <a:tcPr marL="54473" marR="54473" marT="27236" marB="27236" anchor="ctr"/>
                </a:tc>
                <a:tc>
                  <a:txBody>
                    <a:bodyPr/>
                    <a:lstStyle/>
                    <a:p>
                      <a:r>
                        <a:rPr lang="en-US" sz="2000"/>
                        <a:t>Implement centralized decision logic with gradual corrections and safety limits</a:t>
                      </a:r>
                    </a:p>
                  </a:txBody>
                  <a:tcPr marL="54473" marR="54473" marT="27236" marB="27236" anchor="ctr"/>
                </a:tc>
                <a:extLst>
                  <a:ext uri="{0D108BD9-81ED-4DB2-BD59-A6C34878D82A}">
                    <a16:rowId xmlns:a16="http://schemas.microsoft.com/office/drawing/2014/main" val="2324188444"/>
                  </a:ext>
                </a:extLst>
              </a:tr>
              <a:tr h="453861">
                <a:tc>
                  <a:txBody>
                    <a:bodyPr/>
                    <a:lstStyle/>
                    <a:p>
                      <a:r>
                        <a:rPr lang="en-IN" sz="2000"/>
                        <a:t>Automation instability</a:t>
                      </a:r>
                    </a:p>
                  </a:txBody>
                  <a:tcPr marL="54473" marR="54473" marT="27236" marB="27236" anchor="ctr"/>
                </a:tc>
                <a:tc>
                  <a:txBody>
                    <a:bodyPr/>
                    <a:lstStyle/>
                    <a:p>
                      <a:r>
                        <a:rPr lang="en-US" sz="2000"/>
                        <a:t>Use hysteresis, filtering, timing delays, and controlled micro-adjustments</a:t>
                      </a:r>
                    </a:p>
                  </a:txBody>
                  <a:tcPr marL="54473" marR="54473" marT="27236" marB="27236" anchor="ctr"/>
                </a:tc>
                <a:extLst>
                  <a:ext uri="{0D108BD9-81ED-4DB2-BD59-A6C34878D82A}">
                    <a16:rowId xmlns:a16="http://schemas.microsoft.com/office/drawing/2014/main" val="1257652515"/>
                  </a:ext>
                </a:extLst>
              </a:tr>
              <a:tr h="453861">
                <a:tc>
                  <a:txBody>
                    <a:bodyPr/>
                    <a:lstStyle/>
                    <a:p>
                      <a:r>
                        <a:rPr lang="en-IN" sz="2000" dirty="0"/>
                        <a:t>Dashboard integration issues</a:t>
                      </a:r>
                    </a:p>
                  </a:txBody>
                  <a:tcPr marL="54473" marR="54473" marT="27236" marB="27236" anchor="ctr"/>
                </a:tc>
                <a:tc>
                  <a:txBody>
                    <a:bodyPr/>
                    <a:lstStyle/>
                    <a:p>
                      <a:r>
                        <a:rPr lang="en-US" sz="2000" dirty="0"/>
                        <a:t>Develop and test IoT dashboard incrementally with one feature at a time</a:t>
                      </a:r>
                    </a:p>
                  </a:txBody>
                  <a:tcPr marL="54473" marR="54473" marT="27236" marB="27236" anchor="ctr"/>
                </a:tc>
                <a:extLst>
                  <a:ext uri="{0D108BD9-81ED-4DB2-BD59-A6C34878D82A}">
                    <a16:rowId xmlns:a16="http://schemas.microsoft.com/office/drawing/2014/main" val="3514211687"/>
                  </a:ext>
                </a:extLst>
              </a:tr>
            </a:tbl>
          </a:graphicData>
        </a:graphic>
      </p:graphicFrame>
    </p:spTree>
    <p:extLst>
      <p:ext uri="{BB962C8B-B14F-4D97-AF65-F5344CB8AC3E}">
        <p14:creationId xmlns:p14="http://schemas.microsoft.com/office/powerpoint/2010/main" val="35936937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F6AE4-309F-44A3-5BDC-2050E0710058}"/>
              </a:ext>
            </a:extLst>
          </p:cNvPr>
          <p:cNvSpPr>
            <a:spLocks noGrp="1"/>
          </p:cNvSpPr>
          <p:nvPr>
            <p:ph type="title"/>
          </p:nvPr>
        </p:nvSpPr>
        <p:spPr>
          <a:xfrm>
            <a:off x="685801" y="609600"/>
            <a:ext cx="10131425" cy="676275"/>
          </a:xfrm>
        </p:spPr>
        <p:txBody>
          <a:bodyPr anchor="t"/>
          <a:lstStyle/>
          <a:p>
            <a:r>
              <a:rPr lang="en-US" dirty="0"/>
              <a:t>Plan To Overcome Each Major Challenge</a:t>
            </a:r>
            <a:endParaRPr lang="en-CA" dirty="0"/>
          </a:p>
        </p:txBody>
      </p:sp>
      <p:sp>
        <p:nvSpPr>
          <p:cNvPr id="3" name="Content Placeholder 2">
            <a:extLst>
              <a:ext uri="{FF2B5EF4-FFF2-40B4-BE49-F238E27FC236}">
                <a16:creationId xmlns:a16="http://schemas.microsoft.com/office/drawing/2014/main" id="{6D3A4BD6-493B-C197-782D-10FCB3F0F4DD}"/>
              </a:ext>
            </a:extLst>
          </p:cNvPr>
          <p:cNvSpPr>
            <a:spLocks noGrp="1"/>
          </p:cNvSpPr>
          <p:nvPr>
            <p:ph idx="1"/>
          </p:nvPr>
        </p:nvSpPr>
        <p:spPr>
          <a:xfrm>
            <a:off x="685801" y="1447801"/>
            <a:ext cx="10131425" cy="4343400"/>
          </a:xfrm>
        </p:spPr>
        <p:txBody>
          <a:bodyPr anchor="t">
            <a:normAutofit/>
          </a:bodyPr>
          <a:lstStyle/>
          <a:p>
            <a:pPr marL="0" indent="0">
              <a:buNone/>
            </a:pPr>
            <a:r>
              <a:rPr lang="en-IN" sz="2400" b="1" dirty="0">
                <a:latin typeface="Arial" panose="020B0604020202020204" pitchFamily="34" charset="0"/>
                <a:cs typeface="Arial" panose="020B0604020202020204" pitchFamily="34" charset="0"/>
              </a:rPr>
              <a:t>Phase 3 Solutions</a:t>
            </a:r>
          </a:p>
          <a:p>
            <a:pPr marL="0" indent="0">
              <a:buNone/>
            </a:pPr>
            <a:endParaRPr lang="en-CA" sz="2400" dirty="0"/>
          </a:p>
        </p:txBody>
      </p:sp>
      <p:graphicFrame>
        <p:nvGraphicFramePr>
          <p:cNvPr id="4" name="Table 3">
            <a:extLst>
              <a:ext uri="{FF2B5EF4-FFF2-40B4-BE49-F238E27FC236}">
                <a16:creationId xmlns:a16="http://schemas.microsoft.com/office/drawing/2014/main" id="{691B3118-FA74-4F54-9886-428695AF49A1}"/>
              </a:ext>
            </a:extLst>
          </p:cNvPr>
          <p:cNvGraphicFramePr>
            <a:graphicFrameLocks noGrp="1"/>
          </p:cNvGraphicFramePr>
          <p:nvPr>
            <p:extLst>
              <p:ext uri="{D42A27DB-BD31-4B8C-83A1-F6EECF244321}">
                <p14:modId xmlns:p14="http://schemas.microsoft.com/office/powerpoint/2010/main" val="779813821"/>
              </p:ext>
            </p:extLst>
          </p:nvPr>
        </p:nvGraphicFramePr>
        <p:xfrm>
          <a:off x="685801" y="2328590"/>
          <a:ext cx="10603152" cy="3337489"/>
        </p:xfrm>
        <a:graphic>
          <a:graphicData uri="http://schemas.openxmlformats.org/drawingml/2006/table">
            <a:tbl>
              <a:tblPr>
                <a:tableStyleId>{5940675A-B579-460E-94D1-54222C63F5DA}</a:tableStyleId>
              </a:tblPr>
              <a:tblGrid>
                <a:gridCol w="3567085">
                  <a:extLst>
                    <a:ext uri="{9D8B030D-6E8A-4147-A177-3AD203B41FA5}">
                      <a16:colId xmlns:a16="http://schemas.microsoft.com/office/drawing/2014/main" val="54977267"/>
                    </a:ext>
                  </a:extLst>
                </a:gridCol>
                <a:gridCol w="7036067">
                  <a:extLst>
                    <a:ext uri="{9D8B030D-6E8A-4147-A177-3AD203B41FA5}">
                      <a16:colId xmlns:a16="http://schemas.microsoft.com/office/drawing/2014/main" val="3470085176"/>
                    </a:ext>
                  </a:extLst>
                </a:gridCol>
              </a:tblGrid>
              <a:tr h="404631">
                <a:tc>
                  <a:txBody>
                    <a:bodyPr/>
                    <a:lstStyle/>
                    <a:p>
                      <a:r>
                        <a:rPr lang="en-IN" sz="2000"/>
                        <a:t>Challenge</a:t>
                      </a:r>
                    </a:p>
                  </a:txBody>
                  <a:tcPr marL="51404" marR="51404" marT="25702" marB="25702" anchor="ctr"/>
                </a:tc>
                <a:tc>
                  <a:txBody>
                    <a:bodyPr/>
                    <a:lstStyle/>
                    <a:p>
                      <a:r>
                        <a:rPr lang="en-IN" sz="2000"/>
                        <a:t>Proposed Solution</a:t>
                      </a:r>
                    </a:p>
                  </a:txBody>
                  <a:tcPr marL="51404" marR="51404" marT="25702" marB="25702" anchor="ctr"/>
                </a:tc>
                <a:extLst>
                  <a:ext uri="{0D108BD9-81ED-4DB2-BD59-A6C34878D82A}">
                    <a16:rowId xmlns:a16="http://schemas.microsoft.com/office/drawing/2014/main" val="4214853692"/>
                  </a:ext>
                </a:extLst>
              </a:tr>
              <a:tr h="750869">
                <a:tc>
                  <a:txBody>
                    <a:bodyPr/>
                    <a:lstStyle/>
                    <a:p>
                      <a:r>
                        <a:rPr lang="en-IN" sz="2000"/>
                        <a:t>Full system integration difficulty</a:t>
                      </a:r>
                    </a:p>
                  </a:txBody>
                  <a:tcPr marL="51404" marR="51404" marT="25702" marB="25702" anchor="ctr"/>
                </a:tc>
                <a:tc>
                  <a:txBody>
                    <a:bodyPr/>
                    <a:lstStyle/>
                    <a:p>
                      <a:r>
                        <a:rPr lang="en-US" sz="2000"/>
                        <a:t>Perform subsystem testing individually before final assembly</a:t>
                      </a:r>
                    </a:p>
                  </a:txBody>
                  <a:tcPr marL="51404" marR="51404" marT="25702" marB="25702" anchor="ctr"/>
                </a:tc>
                <a:extLst>
                  <a:ext uri="{0D108BD9-81ED-4DB2-BD59-A6C34878D82A}">
                    <a16:rowId xmlns:a16="http://schemas.microsoft.com/office/drawing/2014/main" val="866060935"/>
                  </a:ext>
                </a:extLst>
              </a:tr>
              <a:tr h="506995">
                <a:tc>
                  <a:txBody>
                    <a:bodyPr/>
                    <a:lstStyle/>
                    <a:p>
                      <a:r>
                        <a:rPr lang="en-IN" sz="2000"/>
                        <a:t>Poor enclosure organization</a:t>
                      </a:r>
                    </a:p>
                  </a:txBody>
                  <a:tcPr marL="51404" marR="51404" marT="25702" marB="25702" anchor="ctr"/>
                </a:tc>
                <a:tc>
                  <a:txBody>
                    <a:bodyPr/>
                    <a:lstStyle/>
                    <a:p>
                      <a:r>
                        <a:rPr lang="en-US" sz="2000"/>
                        <a:t>Design separate compartments for electronics, dosing, and wiring</a:t>
                      </a:r>
                    </a:p>
                  </a:txBody>
                  <a:tcPr marL="51404" marR="51404" marT="25702" marB="25702" anchor="ctr"/>
                </a:tc>
                <a:extLst>
                  <a:ext uri="{0D108BD9-81ED-4DB2-BD59-A6C34878D82A}">
                    <a16:rowId xmlns:a16="http://schemas.microsoft.com/office/drawing/2014/main" val="938778900"/>
                  </a:ext>
                </a:extLst>
              </a:tr>
              <a:tr h="506995">
                <a:tc>
                  <a:txBody>
                    <a:bodyPr/>
                    <a:lstStyle/>
                    <a:p>
                      <a:r>
                        <a:rPr lang="en-IN" sz="2000" dirty="0"/>
                        <a:t>Long-term reliability</a:t>
                      </a:r>
                    </a:p>
                  </a:txBody>
                  <a:tcPr marL="51404" marR="51404" marT="25702" marB="25702" anchor="ctr"/>
                </a:tc>
                <a:tc>
                  <a:txBody>
                    <a:bodyPr/>
                    <a:lstStyle/>
                    <a:p>
                      <a:r>
                        <a:rPr lang="en-US" sz="2000" dirty="0"/>
                        <a:t>Conduct 24–48 hour continuous testing before showcase</a:t>
                      </a:r>
                    </a:p>
                  </a:txBody>
                  <a:tcPr marL="51404" marR="51404" marT="25702" marB="25702" anchor="ctr"/>
                </a:tc>
                <a:extLst>
                  <a:ext uri="{0D108BD9-81ED-4DB2-BD59-A6C34878D82A}">
                    <a16:rowId xmlns:a16="http://schemas.microsoft.com/office/drawing/2014/main" val="2649370718"/>
                  </a:ext>
                </a:extLst>
              </a:tr>
              <a:tr h="506995">
                <a:tc>
                  <a:txBody>
                    <a:bodyPr/>
                    <a:lstStyle/>
                    <a:p>
                      <a:r>
                        <a:rPr lang="en-IN" sz="2000"/>
                        <a:t>Automation tuning</a:t>
                      </a:r>
                    </a:p>
                  </a:txBody>
                  <a:tcPr marL="51404" marR="51404" marT="25702" marB="25702" anchor="ctr"/>
                </a:tc>
                <a:tc>
                  <a:txBody>
                    <a:bodyPr/>
                    <a:lstStyle/>
                    <a:p>
                      <a:r>
                        <a:rPr lang="en-US" sz="2000" dirty="0"/>
                        <a:t>Use controlled test disturbances and gradual parameter adjustments</a:t>
                      </a:r>
                    </a:p>
                  </a:txBody>
                  <a:tcPr marL="51404" marR="51404" marT="25702" marB="25702" anchor="ctr"/>
                </a:tc>
                <a:extLst>
                  <a:ext uri="{0D108BD9-81ED-4DB2-BD59-A6C34878D82A}">
                    <a16:rowId xmlns:a16="http://schemas.microsoft.com/office/drawing/2014/main" val="3907338079"/>
                  </a:ext>
                </a:extLst>
              </a:tr>
              <a:tr h="506995">
                <a:tc>
                  <a:txBody>
                    <a:bodyPr/>
                    <a:lstStyle/>
                    <a:p>
                      <a:r>
                        <a:rPr lang="en-IN" sz="2000"/>
                        <a:t>Time management pressure</a:t>
                      </a:r>
                    </a:p>
                  </a:txBody>
                  <a:tcPr marL="51404" marR="51404" marT="25702" marB="25702" anchor="ctr"/>
                </a:tc>
                <a:tc>
                  <a:txBody>
                    <a:bodyPr/>
                    <a:lstStyle/>
                    <a:p>
                      <a:r>
                        <a:rPr lang="en-US" sz="2000" dirty="0"/>
                        <a:t>Follow phased development schedule with weekly milestones</a:t>
                      </a:r>
                    </a:p>
                  </a:txBody>
                  <a:tcPr marL="51404" marR="51404" marT="25702" marB="25702" anchor="ctr"/>
                </a:tc>
                <a:extLst>
                  <a:ext uri="{0D108BD9-81ED-4DB2-BD59-A6C34878D82A}">
                    <a16:rowId xmlns:a16="http://schemas.microsoft.com/office/drawing/2014/main" val="3253380542"/>
                  </a:ext>
                </a:extLst>
              </a:tr>
            </a:tbl>
          </a:graphicData>
        </a:graphic>
      </p:graphicFrame>
    </p:spTree>
    <p:extLst>
      <p:ext uri="{BB962C8B-B14F-4D97-AF65-F5344CB8AC3E}">
        <p14:creationId xmlns:p14="http://schemas.microsoft.com/office/powerpoint/2010/main" val="27879432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F6AE4-309F-44A3-5BDC-2050E0710058}"/>
              </a:ext>
            </a:extLst>
          </p:cNvPr>
          <p:cNvSpPr>
            <a:spLocks noGrp="1"/>
          </p:cNvSpPr>
          <p:nvPr>
            <p:ph type="title"/>
          </p:nvPr>
        </p:nvSpPr>
        <p:spPr>
          <a:xfrm>
            <a:off x="685801" y="609600"/>
            <a:ext cx="10131425" cy="676275"/>
          </a:xfrm>
        </p:spPr>
        <p:txBody>
          <a:bodyPr anchor="t"/>
          <a:lstStyle/>
          <a:p>
            <a:r>
              <a:rPr lang="en-US" dirty="0"/>
              <a:t>References (MLA Format)</a:t>
            </a:r>
            <a:endParaRPr lang="en-CA" dirty="0"/>
          </a:p>
        </p:txBody>
      </p:sp>
      <p:sp>
        <p:nvSpPr>
          <p:cNvPr id="3" name="Content Placeholder 2">
            <a:extLst>
              <a:ext uri="{FF2B5EF4-FFF2-40B4-BE49-F238E27FC236}">
                <a16:creationId xmlns:a16="http://schemas.microsoft.com/office/drawing/2014/main" id="{6D3A4BD6-493B-C197-782D-10FCB3F0F4DD}"/>
              </a:ext>
            </a:extLst>
          </p:cNvPr>
          <p:cNvSpPr>
            <a:spLocks noGrp="1"/>
          </p:cNvSpPr>
          <p:nvPr>
            <p:ph idx="1"/>
          </p:nvPr>
        </p:nvSpPr>
        <p:spPr>
          <a:xfrm>
            <a:off x="685801" y="1732547"/>
            <a:ext cx="10131425" cy="1559293"/>
          </a:xfrm>
        </p:spPr>
        <p:txBody>
          <a:bodyPr anchor="t">
            <a:normAutofit/>
          </a:bodyPr>
          <a:lstStyle/>
          <a:p>
            <a:r>
              <a:rPr lang="en-US" sz="2400" dirty="0" err="1"/>
              <a:t>OpenAI</a:t>
            </a:r>
            <a:r>
              <a:rPr lang="en-US" sz="2400" dirty="0"/>
              <a:t>. </a:t>
            </a:r>
            <a:r>
              <a:rPr lang="en-US" sz="2400" i="1" dirty="0" err="1"/>
              <a:t>ChatGPT</a:t>
            </a:r>
            <a:r>
              <a:rPr lang="en-US" sz="2400" dirty="0"/>
              <a:t>, response to “Guidance for TPJ655 Smart Aquarium Water-Chemistry Management Engine Project,” 17 May 2026, </a:t>
            </a:r>
            <a:r>
              <a:rPr lang="en-US" sz="2400" dirty="0">
                <a:hlinkClick r:id="rId3"/>
              </a:rPr>
              <a:t>https://chatgpt.com/share/6a09471b-667c-83ea-b064-04b8be1a7664</a:t>
            </a:r>
            <a:r>
              <a:rPr lang="en-US" sz="2400" dirty="0"/>
              <a:t>. </a:t>
            </a:r>
            <a:endParaRPr lang="en-CA" sz="2400" dirty="0"/>
          </a:p>
        </p:txBody>
      </p:sp>
    </p:spTree>
    <p:extLst>
      <p:ext uri="{BB962C8B-B14F-4D97-AF65-F5344CB8AC3E}">
        <p14:creationId xmlns:p14="http://schemas.microsoft.com/office/powerpoint/2010/main" val="408400063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{A534095B-2E82-4C17-8414-52F2FC239BAF}tf03457452</Template>
  <TotalTime>91</TotalTime>
  <Words>958</Words>
  <Application>Microsoft Office PowerPoint</Application>
  <PresentationFormat>Widescreen</PresentationFormat>
  <Paragraphs>167</Paragraphs>
  <Slides>14</Slides>
  <Notes>14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Aptos</vt:lpstr>
      <vt:lpstr>Arial</vt:lpstr>
      <vt:lpstr>Calibri</vt:lpstr>
      <vt:lpstr>Calibri Light</vt:lpstr>
      <vt:lpstr>Times New Roman</vt:lpstr>
      <vt:lpstr>Celestial</vt:lpstr>
      <vt:lpstr>Proposal: Smart Aquarium Water-Chemistry Management Engine</vt:lpstr>
      <vt:lpstr>Summary: Project Description in &lt;40 Words</vt:lpstr>
      <vt:lpstr>Why This Project Idea?</vt:lpstr>
      <vt:lpstr>Proposed: System Block Diagram</vt:lpstr>
      <vt:lpstr>Proposed: Electronic Input Devices</vt:lpstr>
      <vt:lpstr>Proposed: Electronic Output Devices</vt:lpstr>
      <vt:lpstr>Proposed: IoT Dashboard Software</vt:lpstr>
      <vt:lpstr>Anticipated Challenges For Phase 1</vt:lpstr>
      <vt:lpstr>Anticipated Challenges For Phase 2</vt:lpstr>
      <vt:lpstr>Anticipated Challenges For Phase 3</vt:lpstr>
      <vt:lpstr>Plan To Overcome Each Major Challenge</vt:lpstr>
      <vt:lpstr>Plan To Overcome Each Major Challenge</vt:lpstr>
      <vt:lpstr>Plan To Overcome Each Major Challenge</vt:lpstr>
      <vt:lpstr>References (MLA Format)</vt:lpstr>
    </vt:vector>
  </TitlesOfParts>
  <Company>Seneca Polytechnic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TPJ Proposal: Team Project</dc:title>
  <dc:subject>TPJ</dc:subject>
  <dc:creator>Karen Craigs</dc:creator>
  <cp:keywords>TPJ</cp:keywords>
  <cp:lastModifiedBy>Maya Kumari</cp:lastModifiedBy>
  <cp:revision>12</cp:revision>
  <dcterms:created xsi:type="dcterms:W3CDTF">2024-01-20T23:38:33Z</dcterms:created>
  <dcterms:modified xsi:type="dcterms:W3CDTF">2026-05-17T04:43:59Z</dcterms:modified>
  <cp:category>TPJ</cp:category>
</cp:coreProperties>
</file>